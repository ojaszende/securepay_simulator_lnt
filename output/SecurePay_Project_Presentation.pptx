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81" r:id="rId17"/>
    <p:sldId id="271" r:id="rId18"/>
    <p:sldId id="272" r:id="rId19"/>
    <p:sldId id="273" r:id="rId20"/>
    <p:sldId id="274" r:id="rId21"/>
    <p:sldId id="275" r:id="rId22"/>
    <p:sldId id="276" r:id="rId23"/>
    <p:sldId id="277" r:id="rId24"/>
    <p:sldId id="278" r:id="rId25"/>
    <p:sldId id="279" r:id="rId26"/>
    <p:sldId id="280"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58" d="100"/>
          <a:sy n="58" d="100"/>
        </p:scale>
        <p:origin x="964" y="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6F66FC8-8279-40D8-BCAE-827EE1546B33}" type="datetimeFigureOut">
              <a:rPr lang="en-IN" smtClean="0"/>
              <a:t>30-10-2026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3F8663-A7C0-4BC2-9A56-5D8D5B55C93C}" type="slidenum">
              <a:rPr lang="en-IN" smtClean="0"/>
              <a:t>‹#›</a:t>
            </a:fld>
            <a:endParaRPr lang="en-IN"/>
          </a:p>
        </p:txBody>
      </p:sp>
    </p:spTree>
    <p:extLst>
      <p:ext uri="{BB962C8B-B14F-4D97-AF65-F5344CB8AC3E}">
        <p14:creationId xmlns:p14="http://schemas.microsoft.com/office/powerpoint/2010/main" val="20171291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 local educational payment simulator. The project demonstrates security controls using fictional records. It does not connect to a payment network or establish PCI DSS certification. Source: README.md.</a:t>
            </a:r>
            <a:endParaRPr lang="en-IN"/>
          </a:p>
        </p:txBody>
      </p:sp>
      <p:sp>
        <p:nvSpPr>
          <p:cNvPr id="4" name="Slide Number Placeholder 3"/>
          <p:cNvSpPr>
            <a:spLocks noGrp="1"/>
          </p:cNvSpPr>
          <p:nvPr>
            <p:ph type="sldNum" sz="quarter" idx="5"/>
          </p:nvPr>
        </p:nvSpPr>
        <p:spPr/>
        <p:txBody>
          <a:bodyPr/>
          <a:lstStyle/>
          <a:p>
            <a:fld id="{2D3F8663-A7C0-4BC2-9A56-5D8D5B55C93C}" type="slidenum">
              <a:rPr lang="en-IN" smtClean="0"/>
              <a:t>1</a:t>
            </a:fld>
            <a:endParaRPr lang="en-IN"/>
          </a:p>
        </p:txBody>
      </p:sp>
    </p:spTree>
    <p:extLst>
      <p:ext uri="{BB962C8B-B14F-4D97-AF65-F5344CB8AC3E}">
        <p14:creationId xmlns:p14="http://schemas.microsoft.com/office/powerpoint/2010/main" val="5915416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Project requirements and implemented scope come from README.md and the dashboard in web/index.html. The unprotected examples are educational comparisons, not a second production storage system.</a:t>
            </a:r>
            <a:endParaRPr lang="en-IN"/>
          </a:p>
        </p:txBody>
      </p:sp>
      <p:sp>
        <p:nvSpPr>
          <p:cNvPr id="4" name="Slide Number Placeholder 3"/>
          <p:cNvSpPr>
            <a:spLocks noGrp="1"/>
          </p:cNvSpPr>
          <p:nvPr>
            <p:ph type="sldNum" sz="quarter" idx="5"/>
          </p:nvPr>
        </p:nvSpPr>
        <p:spPr/>
        <p:txBody>
          <a:bodyPr/>
          <a:lstStyle/>
          <a:p>
            <a:fld id="{2D3F8663-A7C0-4BC2-9A56-5D8D5B55C93C}" type="slidenum">
              <a:rPr lang="en-IN" smtClean="0"/>
              <a:t>2</a:t>
            </a:fld>
            <a:endParaRPr lang="en-IN"/>
          </a:p>
        </p:txBody>
      </p:sp>
    </p:spTree>
    <p:extLst>
      <p:ext uri="{BB962C8B-B14F-4D97-AF65-F5344CB8AC3E}">
        <p14:creationId xmlns:p14="http://schemas.microsoft.com/office/powerpoint/2010/main" val="3289999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Sources: app/main.py serves web/index.html, web/style.css and web/app.js. app/core.py implements SQLite storage, encryption and hashing. app/pki.py creates certificates and signatures. requirements.txt lists FastAPI, uvicorn[standard], cryptography, pwdlib[argon2], pytest and httpx. .secrets is a separate local directory, not an HSM or isolated key service.</a:t>
            </a:r>
          </a:p>
        </p:txBody>
      </p:sp>
      <p:sp>
        <p:nvSpPr>
          <p:cNvPr id="4" name="Slide Number Placeholder 3"/>
          <p:cNvSpPr>
            <a:spLocks noGrp="1"/>
          </p:cNvSpPr>
          <p:nvPr>
            <p:ph type="sldNum" sz="quarter" idx="5"/>
          </p:nvPr>
        </p:nvSpPr>
        <p:spPr/>
        <p:txBody>
          <a:bodyPr/>
          <a:lstStyle/>
          <a:p>
            <a:fld id="{2D3F8663-A7C0-4BC2-9A56-5D8D5B55C93C}" type="slidenum">
              <a:rPr lang="en-IN" smtClean="0"/>
              <a:t>3</a:t>
            </a:fld>
            <a:endParaRPr lang="en-IN"/>
          </a:p>
        </p:txBody>
      </p:sp>
    </p:spTree>
    <p:extLst>
      <p:ext uri="{BB962C8B-B14F-4D97-AF65-F5344CB8AC3E}">
        <p14:creationId xmlns:p14="http://schemas.microsoft.com/office/powerpoint/2010/main" val="3418637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app/main.py::require_admin, Payment and payment; app/core.py::create_payment. POST /api/payments returns 201 for an accepted request. An unknown customer yields 404. Unexpected fields yield 422. A payment token is tok_demo_ plus a random hex value. Every accepted simulated payment receives status approved. No issuer authorization, settlement, token vault or real card processing occurs. amount_cents represents integer minor units and records default to INR.</a:t>
            </a:r>
            <a:endParaRPr lang="en-IN"/>
          </a:p>
        </p:txBody>
      </p:sp>
      <p:sp>
        <p:nvSpPr>
          <p:cNvPr id="4" name="Slide Number Placeholder 3"/>
          <p:cNvSpPr>
            <a:spLocks noGrp="1"/>
          </p:cNvSpPr>
          <p:nvPr>
            <p:ph type="sldNum" sz="quarter" idx="5"/>
          </p:nvPr>
        </p:nvSpPr>
        <p:spPr/>
        <p:txBody>
          <a:bodyPr/>
          <a:lstStyle/>
          <a:p>
            <a:fld id="{2D3F8663-A7C0-4BC2-9A56-5D8D5B55C93C}" type="slidenum">
              <a:rPr lang="en-IN" smtClean="0"/>
              <a:t>4</a:t>
            </a:fld>
            <a:endParaRPr lang="en-IN"/>
          </a:p>
        </p:txBody>
      </p:sp>
    </p:spTree>
    <p:extLst>
      <p:ext uri="{BB962C8B-B14F-4D97-AF65-F5344CB8AC3E}">
        <p14:creationId xmlns:p14="http://schemas.microsoft.com/office/powerpoint/2010/main" val="28275838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Source: app/core.py::encrypt, decrypt and inspect_encryption; tests/test_simulator.py::test_encrypted_storage_and_tampering. Additional Authenticated Data (AAD) is the literal byte string customer-email. KEY is .secrets/data-key.bin, separate from data/securepay.sqlite3. Base64 is an encoding, not the encryption algorithm. The cryptography AESGCM implementation appends a 16-byte authentication tag. Customer names and transaction metadata remain readable to someone with database access. The entire database is not encrypted.</a:t>
            </a:r>
          </a:p>
        </p:txBody>
      </p:sp>
      <p:sp>
        <p:nvSpPr>
          <p:cNvPr id="4" name="Slide Number Placeholder 3"/>
          <p:cNvSpPr>
            <a:spLocks noGrp="1"/>
          </p:cNvSpPr>
          <p:nvPr>
            <p:ph type="sldNum" sz="quarter" idx="5"/>
          </p:nvPr>
        </p:nvSpPr>
        <p:spPr/>
        <p:txBody>
          <a:bodyPr/>
          <a:lstStyle/>
          <a:p>
            <a:fld id="{2D3F8663-A7C0-4BC2-9A56-5D8D5B55C93C}" type="slidenum">
              <a:rPr lang="en-IN" smtClean="0"/>
              <a:t>5</a:t>
            </a:fld>
            <a:endParaRPr lang="en-IN"/>
          </a:p>
        </p:txBody>
      </p:sp>
    </p:spTree>
    <p:extLst>
      <p:ext uri="{BB962C8B-B14F-4D97-AF65-F5344CB8AC3E}">
        <p14:creationId xmlns:p14="http://schemas.microsoft.com/office/powerpoint/2010/main" val="26625236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Sources: app/pki.py::create_certificates, inspect_certificates, simulate_pki_communication and sign_data; app/main.py::require_https_for_api; app/verify_tls.py. Certificate SANs contain localhost and 127.0.0.1. Server validity is 7 days and CA validity is 30 days at generation. The application demonstration uses RSA-OAEP with SHA-256 and ephemeral AES-256-GCM, with RSA PKCS#1 v1.5/SHA-256 signatures. This does not describe the negotiated TLS key exchange. The browser requires trust in the local CA. Certificates, encryption keys and password hashes should never be included in the presentation.</a:t>
            </a:r>
            <a:endParaRPr lang="en-IN"/>
          </a:p>
        </p:txBody>
      </p:sp>
      <p:sp>
        <p:nvSpPr>
          <p:cNvPr id="4" name="Slide Number Placeholder 3"/>
          <p:cNvSpPr>
            <a:spLocks noGrp="1"/>
          </p:cNvSpPr>
          <p:nvPr>
            <p:ph type="sldNum" sz="quarter" idx="5"/>
          </p:nvPr>
        </p:nvSpPr>
        <p:spPr/>
        <p:txBody>
          <a:bodyPr/>
          <a:lstStyle/>
          <a:p>
            <a:fld id="{2D3F8663-A7C0-4BC2-9A56-5D8D5B55C93C}" type="slidenum">
              <a:rPr lang="en-IN" smtClean="0"/>
              <a:t>6</a:t>
            </a:fld>
            <a:endParaRPr lang="en-IN"/>
          </a:p>
        </p:txBody>
      </p:sp>
    </p:spTree>
    <p:extLst>
      <p:ext uri="{BB962C8B-B14F-4D97-AF65-F5344CB8AC3E}">
        <p14:creationId xmlns:p14="http://schemas.microsoft.com/office/powerpoint/2010/main" val="23986596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Sources: app/main.py::require_admin, Payment and CustomerCreate; app/core.py::initialize, verify_password and create_payment. Setup uses secrets.token_urlsafe(18). PASSWORD_HASH is .secrets/admin-hash.txt. Username comparison uses secrets.compare_digest. The password checker demonstrates a six-part policy: 12 characters, uppercase, lowercase, digit, special character and exclusion from a short weak-password list. That checker is a lab endpoint, not a registration flow. The current app has a single admin account and does not implement MFA, roles or login throttling.</a:t>
            </a:r>
            <a:endParaRPr lang="en-IN"/>
          </a:p>
        </p:txBody>
      </p:sp>
      <p:sp>
        <p:nvSpPr>
          <p:cNvPr id="4" name="Slide Number Placeholder 3"/>
          <p:cNvSpPr>
            <a:spLocks noGrp="1"/>
          </p:cNvSpPr>
          <p:nvPr>
            <p:ph type="sldNum" sz="quarter" idx="5"/>
          </p:nvPr>
        </p:nvSpPr>
        <p:spPr/>
        <p:txBody>
          <a:bodyPr/>
          <a:lstStyle/>
          <a:p>
            <a:fld id="{2D3F8663-A7C0-4BC2-9A56-5D8D5B55C93C}" type="slidenum">
              <a:rPr lang="en-IN" smtClean="0"/>
              <a:t>7</a:t>
            </a:fld>
            <a:endParaRPr lang="en-IN"/>
          </a:p>
        </p:txBody>
      </p:sp>
    </p:spTree>
    <p:extLst>
      <p:ext uri="{BB962C8B-B14F-4D97-AF65-F5344CB8AC3E}">
        <p14:creationId xmlns:p14="http://schemas.microsoft.com/office/powerpoint/2010/main" val="7453474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Sources: app/core.py::FIELDS, EXCESS_FIELDS, analyze_payload_privacy and audit_report; app/main.py::privacy and check_privacy_payload. PAN means Primary Account Number. The inspector classifies PAN as prohibited by this simulator policy; do not generalize that classification into a claim that PCI DSS bans all PAN storage. The arbitrary JSON inspector can receive test fields for classification and does not persist them. Customer and payment creation models reject extra fields. All demonstrations should use fictional values. The app does not actually send email receipts.</a:t>
            </a:r>
            <a:endParaRPr lang="en-IN"/>
          </a:p>
        </p:txBody>
      </p:sp>
      <p:sp>
        <p:nvSpPr>
          <p:cNvPr id="4" name="Slide Number Placeholder 3"/>
          <p:cNvSpPr>
            <a:spLocks noGrp="1"/>
          </p:cNvSpPr>
          <p:nvPr>
            <p:ph type="sldNum" sz="quarter" idx="5"/>
          </p:nvPr>
        </p:nvSpPr>
        <p:spPr/>
        <p:txBody>
          <a:bodyPr/>
          <a:lstStyle/>
          <a:p>
            <a:fld id="{2D3F8663-A7C0-4BC2-9A56-5D8D5B55C93C}" type="slidenum">
              <a:rPr lang="en-IN" smtClean="0"/>
              <a:t>8</a:t>
            </a:fld>
            <a:endParaRPr lang="en-IN"/>
          </a:p>
        </p:txBody>
      </p:sp>
    </p:spTree>
    <p:extLst>
      <p:ext uri="{BB962C8B-B14F-4D97-AF65-F5344CB8AC3E}">
        <p14:creationId xmlns:p14="http://schemas.microsoft.com/office/powerpoint/2010/main" val="11923767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Sources: app/core.py::initialize and audit_report; tests/test_simulator.py::test_access_minimization_and_measurement. Seed data contains 2 customers, 2 transactions and 2 payment_created audit events. The in-memory baseline assembles five excess field types: phone, address, birth_date, pan and cvv. It does not create a plaintext comparison database. Counts can change when a user creates customers or transactions. Audit coverage is the count of audit rows divided by the transaction count, not a cryptographic integrity or event-linkage check.</a:t>
            </a:r>
            <a:endParaRPr lang="en-IN"/>
          </a:p>
        </p:txBody>
      </p:sp>
      <p:sp>
        <p:nvSpPr>
          <p:cNvPr id="4" name="Slide Number Placeholder 3"/>
          <p:cNvSpPr>
            <a:spLocks noGrp="1"/>
          </p:cNvSpPr>
          <p:nvPr>
            <p:ph type="sldNum" sz="quarter" idx="5"/>
          </p:nvPr>
        </p:nvSpPr>
        <p:spPr/>
        <p:txBody>
          <a:bodyPr/>
          <a:lstStyle/>
          <a:p>
            <a:fld id="{2D3F8663-A7C0-4BC2-9A56-5D8D5B55C93C}" type="slidenum">
              <a:rPr lang="en-IN" smtClean="0"/>
              <a:t>9</a:t>
            </a:fld>
            <a:endParaRPr lang="en-IN"/>
          </a:p>
        </p:txBody>
      </p:sp>
    </p:spTree>
    <p:extLst>
      <p:ext uri="{BB962C8B-B14F-4D97-AF65-F5344CB8AC3E}">
        <p14:creationId xmlns:p14="http://schemas.microsoft.com/office/powerpoint/2010/main" val="8190565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Project-specific source: README.md and app/main.py::overview. This slide summarizes the project educational mapping and does not provide a current standards interpretation or independent compliance assessment. The dashboard labels requirements 3.2/3.3, 3.5/3.6, 4.2, 6.2, 7.2/8.3 and 10.2. Those mappings are not independently validated here. The audit_events table has no implemented immutability control, even though some project UI text calls it immutable. A production assessment would need broader technical, operational and organizational evidence.</a:t>
            </a:r>
            <a:endParaRPr lang="en-IN"/>
          </a:p>
        </p:txBody>
      </p:sp>
      <p:sp>
        <p:nvSpPr>
          <p:cNvPr id="4" name="Slide Number Placeholder 3"/>
          <p:cNvSpPr>
            <a:spLocks noGrp="1"/>
          </p:cNvSpPr>
          <p:nvPr>
            <p:ph type="sldNum" sz="quarter" idx="5"/>
          </p:nvPr>
        </p:nvSpPr>
        <p:spPr/>
        <p:txBody>
          <a:bodyPr/>
          <a:lstStyle/>
          <a:p>
            <a:fld id="{2D3F8663-A7C0-4BC2-9A56-5D8D5B55C93C}" type="slidenum">
              <a:rPr lang="en-IN" smtClean="0"/>
              <a:t>10</a:t>
            </a:fld>
            <a:endParaRPr lang="en-IN"/>
          </a:p>
        </p:txBody>
      </p:sp>
    </p:spTree>
    <p:extLst>
      <p:ext uri="{BB962C8B-B14F-4D97-AF65-F5344CB8AC3E}">
        <p14:creationId xmlns:p14="http://schemas.microsoft.com/office/powerpoint/2010/main" val="34828970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tests/test_simulator.py. Executed .venv\Scripts\python.exe -m pytest -q on 30 October 2026: 6 passed, 1 deprecation warning, in 5.57 seconds. The warning concerns the Starlette TestClient httpx integration. The pytest demo fixture monkeypatches database and secret paths into tmp_path, creates its own generated credential and certificates, and uses TestClient with https://testserver. The suite contains six test functions, some of which cover several scenarios. These are functional application tests, not browser tests or a network penetration assessment.</a:t>
            </a:r>
            <a:endParaRPr lang="en-IN"/>
          </a:p>
        </p:txBody>
      </p:sp>
      <p:sp>
        <p:nvSpPr>
          <p:cNvPr id="4" name="Slide Number Placeholder 3"/>
          <p:cNvSpPr>
            <a:spLocks noGrp="1"/>
          </p:cNvSpPr>
          <p:nvPr>
            <p:ph type="sldNum" sz="quarter" idx="5"/>
          </p:nvPr>
        </p:nvSpPr>
        <p:spPr/>
        <p:txBody>
          <a:bodyPr/>
          <a:lstStyle/>
          <a:p>
            <a:fld id="{2D3F8663-A7C0-4BC2-9A56-5D8D5B55C93C}" type="slidenum">
              <a:rPr lang="en-IN" smtClean="0"/>
              <a:t>11</a:t>
            </a:fld>
            <a:endParaRPr lang="en-IN"/>
          </a:p>
        </p:txBody>
      </p:sp>
    </p:spTree>
    <p:extLst>
      <p:ext uri="{BB962C8B-B14F-4D97-AF65-F5344CB8AC3E}">
        <p14:creationId xmlns:p14="http://schemas.microsoft.com/office/powerpoint/2010/main" val="20539511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Sources: web/index.html, web/app.js and the application API endpoints. Suggested sample email: demo@example.test. Use only fictional inputs. The dashboard login asks for the generated admin password. No secrets are embedded in this deck. A successful encryption run returns VERIFIED. A tampered run returns TAMPER_BLOCKED_INVALID_TAG. PKI simulation returns SECURE_DELIVERY or BLOCKED_TAMPER_DETECTED. The current dashboard decrypts customer emails for an authenticated administrator, so encryption at rest does not hide data from an authorized app session.</a:t>
            </a:r>
            <a:endParaRPr lang="en-IN"/>
          </a:p>
        </p:txBody>
      </p:sp>
      <p:sp>
        <p:nvSpPr>
          <p:cNvPr id="4" name="Slide Number Placeholder 3"/>
          <p:cNvSpPr>
            <a:spLocks noGrp="1"/>
          </p:cNvSpPr>
          <p:nvPr>
            <p:ph type="sldNum" sz="quarter" idx="5"/>
          </p:nvPr>
        </p:nvSpPr>
        <p:spPr/>
        <p:txBody>
          <a:bodyPr/>
          <a:lstStyle/>
          <a:p>
            <a:fld id="{2D3F8663-A7C0-4BC2-9A56-5D8D5B55C93C}" type="slidenum">
              <a:rPr lang="en-IN" smtClean="0"/>
              <a:t>12</a:t>
            </a:fld>
            <a:endParaRPr lang="en-IN"/>
          </a:p>
        </p:txBody>
      </p:sp>
    </p:spTree>
    <p:extLst>
      <p:ext uri="{BB962C8B-B14F-4D97-AF65-F5344CB8AC3E}">
        <p14:creationId xmlns:p14="http://schemas.microsoft.com/office/powerpoint/2010/main" val="34807142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 README.md and app/setup.py. Commands run in PowerShell from the repository root. The start-server command is one command shown across lines for readability: join the three displayed lines with spaces, or use PowerShell backtick line continuations. Direct use of .venv\Scripts\python.exe requires no virtual-environment activation. On an initialized project, skip creating the environment, installing existing dependencies and setup as appropriate. The generated password appears in terminal output after One-time generated password:. It cannot be recovered from the stored hash. app.setup --reset recreates demo records, encryption keys and certificates, so reset is destructive to the current demo data. A local certificate trust warning may appear. Optional checks: .venv\Scripts\python.exe -m app.verify_tls and .venv\Scripts\python.exe -m pytest -v. The current local server certificate lasts 7 days.</a:t>
            </a:r>
            <a:endParaRPr lang="en-IN"/>
          </a:p>
        </p:txBody>
      </p:sp>
      <p:sp>
        <p:nvSpPr>
          <p:cNvPr id="4" name="Slide Number Placeholder 3"/>
          <p:cNvSpPr>
            <a:spLocks noGrp="1"/>
          </p:cNvSpPr>
          <p:nvPr>
            <p:ph type="sldNum" sz="quarter" idx="5"/>
          </p:nvPr>
        </p:nvSpPr>
        <p:spPr/>
        <p:txBody>
          <a:bodyPr/>
          <a:lstStyle/>
          <a:p>
            <a:fld id="{2D3F8663-A7C0-4BC2-9A56-5D8D5B55C93C}" type="slidenum">
              <a:rPr lang="en-IN" smtClean="0"/>
              <a:t>13</a:t>
            </a:fld>
            <a:endParaRPr lang="en-IN"/>
          </a:p>
        </p:txBody>
      </p:sp>
    </p:spTree>
    <p:extLst>
      <p:ext uri="{BB962C8B-B14F-4D97-AF65-F5344CB8AC3E}">
        <p14:creationId xmlns:p14="http://schemas.microsoft.com/office/powerpoint/2010/main" val="6349090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Sources for current scope: README.md; app/core.py::initialize and create_payment; app/main.py::require_admin; app/pki.py::create_certificates. Future items are proposed extensions, not implemented capabilities or commitments. Other limitations include no real payment gateway, no payment settlement, no production token vault, no external certificate authority and no implemented key rotation. The simulated approved status does not represent authorization by a bank. Existing local key separation does not provide process-level isolation. The project is educational and provides no PCI DSS certification.</a:t>
            </a:r>
            <a:endParaRPr lang="en-IN"/>
          </a:p>
        </p:txBody>
      </p:sp>
      <p:sp>
        <p:nvSpPr>
          <p:cNvPr id="4" name="Slide Number Placeholder 3"/>
          <p:cNvSpPr>
            <a:spLocks noGrp="1"/>
          </p:cNvSpPr>
          <p:nvPr>
            <p:ph type="sldNum" sz="quarter" idx="5"/>
          </p:nvPr>
        </p:nvSpPr>
        <p:spPr/>
        <p:txBody>
          <a:bodyPr/>
          <a:lstStyle/>
          <a:p>
            <a:fld id="{2D3F8663-A7C0-4BC2-9A56-5D8D5B55C93C}" type="slidenum">
              <a:rPr lang="en-IN" smtClean="0"/>
              <a:t>14</a:t>
            </a:fld>
            <a:endParaRPr lang="en-IN"/>
          </a:p>
        </p:txBody>
      </p:sp>
    </p:spTree>
    <p:extLst>
      <p:ext uri="{BB962C8B-B14F-4D97-AF65-F5344CB8AC3E}">
        <p14:creationId xmlns:p14="http://schemas.microsoft.com/office/powerpoint/2010/main" val="287155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B8DE5-6F9C-416B-BD63-F95A64CBE1C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B271907-3C24-3F53-3E4A-7A876244CDD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BCE3B04-F76D-2EAC-E4CA-0BD637E5576D}"/>
              </a:ext>
            </a:extLst>
          </p:cNvPr>
          <p:cNvSpPr>
            <a:spLocks noGrp="1"/>
          </p:cNvSpPr>
          <p:nvPr>
            <p:ph type="dt" sz="half" idx="10"/>
          </p:nvPr>
        </p:nvSpPr>
        <p:spPr/>
        <p:txBody>
          <a:bodyPr/>
          <a:lstStyle/>
          <a:p>
            <a:fld id="{20ADFFED-86B0-4E63-B7C7-F8A98DACA0B1}" type="datetimeFigureOut">
              <a:rPr lang="en-IN" smtClean="0"/>
              <a:t>30-10-2026</a:t>
            </a:fld>
            <a:endParaRPr lang="en-IN"/>
          </a:p>
        </p:txBody>
      </p:sp>
      <p:sp>
        <p:nvSpPr>
          <p:cNvPr id="5" name="Footer Placeholder 4">
            <a:extLst>
              <a:ext uri="{FF2B5EF4-FFF2-40B4-BE49-F238E27FC236}">
                <a16:creationId xmlns:a16="http://schemas.microsoft.com/office/drawing/2014/main" id="{8873A9D0-2D31-263C-486C-0382145F2AE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D6E45ED-6A56-6B2B-F52E-482A39A4FC91}"/>
              </a:ext>
            </a:extLst>
          </p:cNvPr>
          <p:cNvSpPr>
            <a:spLocks noGrp="1"/>
          </p:cNvSpPr>
          <p:nvPr>
            <p:ph type="sldNum" sz="quarter" idx="12"/>
          </p:nvPr>
        </p:nvSpPr>
        <p:spPr/>
        <p:txBody>
          <a:bodyPr/>
          <a:lstStyle/>
          <a:p>
            <a:fld id="{3F50BDC0-5880-46A9-B8C3-AB9B8C096BC1}" type="slidenum">
              <a:rPr lang="en-IN" smtClean="0"/>
              <a:t>‹#›</a:t>
            </a:fld>
            <a:endParaRPr lang="en-IN"/>
          </a:p>
        </p:txBody>
      </p:sp>
    </p:spTree>
    <p:extLst>
      <p:ext uri="{BB962C8B-B14F-4D97-AF65-F5344CB8AC3E}">
        <p14:creationId xmlns:p14="http://schemas.microsoft.com/office/powerpoint/2010/main" val="18187979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0A401-1FD6-923E-3760-342CCE3FACC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7B1987E-CD08-EB36-764C-F70DDD1941D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FAB20AE-897C-77AA-94DA-E4CD26E1EC52}"/>
              </a:ext>
            </a:extLst>
          </p:cNvPr>
          <p:cNvSpPr>
            <a:spLocks noGrp="1"/>
          </p:cNvSpPr>
          <p:nvPr>
            <p:ph type="dt" sz="half" idx="10"/>
          </p:nvPr>
        </p:nvSpPr>
        <p:spPr/>
        <p:txBody>
          <a:bodyPr/>
          <a:lstStyle/>
          <a:p>
            <a:fld id="{20ADFFED-86B0-4E63-B7C7-F8A98DACA0B1}" type="datetimeFigureOut">
              <a:rPr lang="en-IN" smtClean="0"/>
              <a:t>30-10-2026</a:t>
            </a:fld>
            <a:endParaRPr lang="en-IN"/>
          </a:p>
        </p:txBody>
      </p:sp>
      <p:sp>
        <p:nvSpPr>
          <p:cNvPr id="5" name="Footer Placeholder 4">
            <a:extLst>
              <a:ext uri="{FF2B5EF4-FFF2-40B4-BE49-F238E27FC236}">
                <a16:creationId xmlns:a16="http://schemas.microsoft.com/office/drawing/2014/main" id="{7E8EF7C2-675D-1F71-09EF-DE670F20D66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3BFF141-1001-DA57-DF91-C0D4C8B98F75}"/>
              </a:ext>
            </a:extLst>
          </p:cNvPr>
          <p:cNvSpPr>
            <a:spLocks noGrp="1"/>
          </p:cNvSpPr>
          <p:nvPr>
            <p:ph type="sldNum" sz="quarter" idx="12"/>
          </p:nvPr>
        </p:nvSpPr>
        <p:spPr/>
        <p:txBody>
          <a:bodyPr/>
          <a:lstStyle/>
          <a:p>
            <a:fld id="{3F50BDC0-5880-46A9-B8C3-AB9B8C096BC1}" type="slidenum">
              <a:rPr lang="en-IN" smtClean="0"/>
              <a:t>‹#›</a:t>
            </a:fld>
            <a:endParaRPr lang="en-IN"/>
          </a:p>
        </p:txBody>
      </p:sp>
    </p:spTree>
    <p:extLst>
      <p:ext uri="{BB962C8B-B14F-4D97-AF65-F5344CB8AC3E}">
        <p14:creationId xmlns:p14="http://schemas.microsoft.com/office/powerpoint/2010/main" val="24143820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5C744-5C38-3267-AE93-F3D968E2172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79E237C-EDFE-685D-F91E-C9C1B4462FB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0A43E2F-1F82-B523-D257-729565F7DD2D}"/>
              </a:ext>
            </a:extLst>
          </p:cNvPr>
          <p:cNvSpPr>
            <a:spLocks noGrp="1"/>
          </p:cNvSpPr>
          <p:nvPr>
            <p:ph type="dt" sz="half" idx="10"/>
          </p:nvPr>
        </p:nvSpPr>
        <p:spPr/>
        <p:txBody>
          <a:bodyPr/>
          <a:lstStyle/>
          <a:p>
            <a:fld id="{20ADFFED-86B0-4E63-B7C7-F8A98DACA0B1}" type="datetimeFigureOut">
              <a:rPr lang="en-IN" smtClean="0"/>
              <a:t>30-10-2026</a:t>
            </a:fld>
            <a:endParaRPr lang="en-IN"/>
          </a:p>
        </p:txBody>
      </p:sp>
      <p:sp>
        <p:nvSpPr>
          <p:cNvPr id="5" name="Footer Placeholder 4">
            <a:extLst>
              <a:ext uri="{FF2B5EF4-FFF2-40B4-BE49-F238E27FC236}">
                <a16:creationId xmlns:a16="http://schemas.microsoft.com/office/drawing/2014/main" id="{7E23D442-C1E1-9C28-C0E9-2CCCE6386E4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D031B09-0768-9178-01E9-3631A7898426}"/>
              </a:ext>
            </a:extLst>
          </p:cNvPr>
          <p:cNvSpPr>
            <a:spLocks noGrp="1"/>
          </p:cNvSpPr>
          <p:nvPr>
            <p:ph type="sldNum" sz="quarter" idx="12"/>
          </p:nvPr>
        </p:nvSpPr>
        <p:spPr/>
        <p:txBody>
          <a:bodyPr/>
          <a:lstStyle/>
          <a:p>
            <a:fld id="{3F50BDC0-5880-46A9-B8C3-AB9B8C096BC1}" type="slidenum">
              <a:rPr lang="en-IN" smtClean="0"/>
              <a:t>‹#›</a:t>
            </a:fld>
            <a:endParaRPr lang="en-IN"/>
          </a:p>
        </p:txBody>
      </p:sp>
    </p:spTree>
    <p:extLst>
      <p:ext uri="{BB962C8B-B14F-4D97-AF65-F5344CB8AC3E}">
        <p14:creationId xmlns:p14="http://schemas.microsoft.com/office/powerpoint/2010/main" val="4885141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C6779-EF0F-8EDC-68F8-C89801D2853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E8589EE-6359-A93F-A2C9-ECCA012186B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C1C3618-FDF3-A4E0-1CEF-A6F15430080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284946C-E485-C03E-C699-806DB054AA37}"/>
              </a:ext>
            </a:extLst>
          </p:cNvPr>
          <p:cNvSpPr>
            <a:spLocks noGrp="1"/>
          </p:cNvSpPr>
          <p:nvPr>
            <p:ph type="dt" sz="half" idx="10"/>
          </p:nvPr>
        </p:nvSpPr>
        <p:spPr/>
        <p:txBody>
          <a:bodyPr/>
          <a:lstStyle/>
          <a:p>
            <a:fld id="{20ADFFED-86B0-4E63-B7C7-F8A98DACA0B1}" type="datetimeFigureOut">
              <a:rPr lang="en-IN" smtClean="0"/>
              <a:t>30-10-2026</a:t>
            </a:fld>
            <a:endParaRPr lang="en-IN"/>
          </a:p>
        </p:txBody>
      </p:sp>
      <p:sp>
        <p:nvSpPr>
          <p:cNvPr id="6" name="Footer Placeholder 5">
            <a:extLst>
              <a:ext uri="{FF2B5EF4-FFF2-40B4-BE49-F238E27FC236}">
                <a16:creationId xmlns:a16="http://schemas.microsoft.com/office/drawing/2014/main" id="{CE13A1CD-2B93-CBC5-DFC0-F3610DAE9B9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C3CCC10-33F1-0864-12DC-0D75FD171191}"/>
              </a:ext>
            </a:extLst>
          </p:cNvPr>
          <p:cNvSpPr>
            <a:spLocks noGrp="1"/>
          </p:cNvSpPr>
          <p:nvPr>
            <p:ph type="sldNum" sz="quarter" idx="12"/>
          </p:nvPr>
        </p:nvSpPr>
        <p:spPr/>
        <p:txBody>
          <a:bodyPr/>
          <a:lstStyle/>
          <a:p>
            <a:fld id="{3F50BDC0-5880-46A9-B8C3-AB9B8C096BC1}" type="slidenum">
              <a:rPr lang="en-IN" smtClean="0"/>
              <a:t>‹#›</a:t>
            </a:fld>
            <a:endParaRPr lang="en-IN"/>
          </a:p>
        </p:txBody>
      </p:sp>
    </p:spTree>
    <p:extLst>
      <p:ext uri="{BB962C8B-B14F-4D97-AF65-F5344CB8AC3E}">
        <p14:creationId xmlns:p14="http://schemas.microsoft.com/office/powerpoint/2010/main" val="8837274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85BFB-457B-E37F-89AF-71D6D687A62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C289C6E-BE4A-9A62-E1AB-E051BD5D914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A3F4F7F-8942-ECD1-A9B7-A55FBA16DB3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AC2EFB5-E565-2109-EE74-AFC5C65C3AC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4736D27-B3E7-E2AD-3A48-A81C5BA3AD3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5086E37-AC49-8F58-5C59-D51CDE12DB4E}"/>
              </a:ext>
            </a:extLst>
          </p:cNvPr>
          <p:cNvSpPr>
            <a:spLocks noGrp="1"/>
          </p:cNvSpPr>
          <p:nvPr>
            <p:ph type="dt" sz="half" idx="10"/>
          </p:nvPr>
        </p:nvSpPr>
        <p:spPr/>
        <p:txBody>
          <a:bodyPr/>
          <a:lstStyle/>
          <a:p>
            <a:fld id="{20ADFFED-86B0-4E63-B7C7-F8A98DACA0B1}" type="datetimeFigureOut">
              <a:rPr lang="en-IN" smtClean="0"/>
              <a:t>30-10-2026</a:t>
            </a:fld>
            <a:endParaRPr lang="en-IN"/>
          </a:p>
        </p:txBody>
      </p:sp>
      <p:sp>
        <p:nvSpPr>
          <p:cNvPr id="8" name="Footer Placeholder 7">
            <a:extLst>
              <a:ext uri="{FF2B5EF4-FFF2-40B4-BE49-F238E27FC236}">
                <a16:creationId xmlns:a16="http://schemas.microsoft.com/office/drawing/2014/main" id="{8D30A0B7-6C4D-467D-AA15-C8AD3BB9188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3834144-BB6C-DC6A-4697-79620ED50C15}"/>
              </a:ext>
            </a:extLst>
          </p:cNvPr>
          <p:cNvSpPr>
            <a:spLocks noGrp="1"/>
          </p:cNvSpPr>
          <p:nvPr>
            <p:ph type="sldNum" sz="quarter" idx="12"/>
          </p:nvPr>
        </p:nvSpPr>
        <p:spPr/>
        <p:txBody>
          <a:bodyPr/>
          <a:lstStyle/>
          <a:p>
            <a:fld id="{3F50BDC0-5880-46A9-B8C3-AB9B8C096BC1}" type="slidenum">
              <a:rPr lang="en-IN" smtClean="0"/>
              <a:t>‹#›</a:t>
            </a:fld>
            <a:endParaRPr lang="en-IN"/>
          </a:p>
        </p:txBody>
      </p:sp>
    </p:spTree>
    <p:extLst>
      <p:ext uri="{BB962C8B-B14F-4D97-AF65-F5344CB8AC3E}">
        <p14:creationId xmlns:p14="http://schemas.microsoft.com/office/powerpoint/2010/main" val="32774513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1F444-68D3-4D10-482D-5D5E22AEDFD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185032D-546C-DADC-038A-85DB23C2F0D5}"/>
              </a:ext>
            </a:extLst>
          </p:cNvPr>
          <p:cNvSpPr>
            <a:spLocks noGrp="1"/>
          </p:cNvSpPr>
          <p:nvPr>
            <p:ph type="dt" sz="half" idx="10"/>
          </p:nvPr>
        </p:nvSpPr>
        <p:spPr/>
        <p:txBody>
          <a:bodyPr/>
          <a:lstStyle/>
          <a:p>
            <a:fld id="{20ADFFED-86B0-4E63-B7C7-F8A98DACA0B1}" type="datetimeFigureOut">
              <a:rPr lang="en-IN" smtClean="0"/>
              <a:t>30-10-2026</a:t>
            </a:fld>
            <a:endParaRPr lang="en-IN"/>
          </a:p>
        </p:txBody>
      </p:sp>
      <p:sp>
        <p:nvSpPr>
          <p:cNvPr id="4" name="Footer Placeholder 3">
            <a:extLst>
              <a:ext uri="{FF2B5EF4-FFF2-40B4-BE49-F238E27FC236}">
                <a16:creationId xmlns:a16="http://schemas.microsoft.com/office/drawing/2014/main" id="{67552F6A-BC4D-A3C5-0452-DBD765D54FB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398691D-BA25-80B6-9551-82C0BE8B4546}"/>
              </a:ext>
            </a:extLst>
          </p:cNvPr>
          <p:cNvSpPr>
            <a:spLocks noGrp="1"/>
          </p:cNvSpPr>
          <p:nvPr>
            <p:ph type="sldNum" sz="quarter" idx="12"/>
          </p:nvPr>
        </p:nvSpPr>
        <p:spPr/>
        <p:txBody>
          <a:bodyPr/>
          <a:lstStyle/>
          <a:p>
            <a:fld id="{3F50BDC0-5880-46A9-B8C3-AB9B8C096BC1}" type="slidenum">
              <a:rPr lang="en-IN" smtClean="0"/>
              <a:t>‹#›</a:t>
            </a:fld>
            <a:endParaRPr lang="en-IN"/>
          </a:p>
        </p:txBody>
      </p:sp>
    </p:spTree>
    <p:extLst>
      <p:ext uri="{BB962C8B-B14F-4D97-AF65-F5344CB8AC3E}">
        <p14:creationId xmlns:p14="http://schemas.microsoft.com/office/powerpoint/2010/main" val="40323530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6BD667D-46E6-C23C-81AE-66DA73FBC393}"/>
              </a:ext>
            </a:extLst>
          </p:cNvPr>
          <p:cNvSpPr>
            <a:spLocks noGrp="1"/>
          </p:cNvSpPr>
          <p:nvPr>
            <p:ph type="dt" sz="half" idx="10"/>
          </p:nvPr>
        </p:nvSpPr>
        <p:spPr/>
        <p:txBody>
          <a:bodyPr/>
          <a:lstStyle/>
          <a:p>
            <a:fld id="{20ADFFED-86B0-4E63-B7C7-F8A98DACA0B1}" type="datetimeFigureOut">
              <a:rPr lang="en-IN" smtClean="0"/>
              <a:t>30-10-2026</a:t>
            </a:fld>
            <a:endParaRPr lang="en-IN"/>
          </a:p>
        </p:txBody>
      </p:sp>
      <p:sp>
        <p:nvSpPr>
          <p:cNvPr id="3" name="Footer Placeholder 2">
            <a:extLst>
              <a:ext uri="{FF2B5EF4-FFF2-40B4-BE49-F238E27FC236}">
                <a16:creationId xmlns:a16="http://schemas.microsoft.com/office/drawing/2014/main" id="{43FBDF37-CAED-547A-3520-34E54913D2D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34985C6-14C2-7521-E6D0-C74044FCC1A2}"/>
              </a:ext>
            </a:extLst>
          </p:cNvPr>
          <p:cNvSpPr>
            <a:spLocks noGrp="1"/>
          </p:cNvSpPr>
          <p:nvPr>
            <p:ph type="sldNum" sz="quarter" idx="12"/>
          </p:nvPr>
        </p:nvSpPr>
        <p:spPr/>
        <p:txBody>
          <a:bodyPr/>
          <a:lstStyle/>
          <a:p>
            <a:fld id="{3F50BDC0-5880-46A9-B8C3-AB9B8C096BC1}" type="slidenum">
              <a:rPr lang="en-IN" smtClean="0"/>
              <a:t>‹#›</a:t>
            </a:fld>
            <a:endParaRPr lang="en-IN"/>
          </a:p>
        </p:txBody>
      </p:sp>
    </p:spTree>
    <p:extLst>
      <p:ext uri="{BB962C8B-B14F-4D97-AF65-F5344CB8AC3E}">
        <p14:creationId xmlns:p14="http://schemas.microsoft.com/office/powerpoint/2010/main" val="29191615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75E60-8B89-5A23-D190-D23ACE2178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7D7D6590-E6B9-1120-5F48-B5A4B1F50E2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ED65221-7E17-1357-2D09-98F48056B8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CA4016-F3E1-56F3-96BD-00280195B0C2}"/>
              </a:ext>
            </a:extLst>
          </p:cNvPr>
          <p:cNvSpPr>
            <a:spLocks noGrp="1"/>
          </p:cNvSpPr>
          <p:nvPr>
            <p:ph type="dt" sz="half" idx="10"/>
          </p:nvPr>
        </p:nvSpPr>
        <p:spPr/>
        <p:txBody>
          <a:bodyPr/>
          <a:lstStyle/>
          <a:p>
            <a:fld id="{20ADFFED-86B0-4E63-B7C7-F8A98DACA0B1}" type="datetimeFigureOut">
              <a:rPr lang="en-IN" smtClean="0"/>
              <a:t>30-10-2026</a:t>
            </a:fld>
            <a:endParaRPr lang="en-IN"/>
          </a:p>
        </p:txBody>
      </p:sp>
      <p:sp>
        <p:nvSpPr>
          <p:cNvPr id="6" name="Footer Placeholder 5">
            <a:extLst>
              <a:ext uri="{FF2B5EF4-FFF2-40B4-BE49-F238E27FC236}">
                <a16:creationId xmlns:a16="http://schemas.microsoft.com/office/drawing/2014/main" id="{180916DE-09B7-2242-B02B-440CDCF4E06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9D94895-C79F-95E4-AB3E-AF78A79956BE}"/>
              </a:ext>
            </a:extLst>
          </p:cNvPr>
          <p:cNvSpPr>
            <a:spLocks noGrp="1"/>
          </p:cNvSpPr>
          <p:nvPr>
            <p:ph type="sldNum" sz="quarter" idx="12"/>
          </p:nvPr>
        </p:nvSpPr>
        <p:spPr/>
        <p:txBody>
          <a:bodyPr/>
          <a:lstStyle/>
          <a:p>
            <a:fld id="{3F50BDC0-5880-46A9-B8C3-AB9B8C096BC1}" type="slidenum">
              <a:rPr lang="en-IN" smtClean="0"/>
              <a:t>‹#›</a:t>
            </a:fld>
            <a:endParaRPr lang="en-IN"/>
          </a:p>
        </p:txBody>
      </p:sp>
    </p:spTree>
    <p:extLst>
      <p:ext uri="{BB962C8B-B14F-4D97-AF65-F5344CB8AC3E}">
        <p14:creationId xmlns:p14="http://schemas.microsoft.com/office/powerpoint/2010/main" val="28317893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F6CEA-272A-73E8-34BE-2511788A84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EE67B90-5029-399A-0370-7F6477C109C7}"/>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7ECD6D6-58D4-B582-A8EA-FD348BAFD5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DC9DCD5-F5F0-4107-2D3E-2306E9E1DEB7}"/>
              </a:ext>
            </a:extLst>
          </p:cNvPr>
          <p:cNvSpPr>
            <a:spLocks noGrp="1"/>
          </p:cNvSpPr>
          <p:nvPr>
            <p:ph type="dt" sz="half" idx="10"/>
          </p:nvPr>
        </p:nvSpPr>
        <p:spPr/>
        <p:txBody>
          <a:bodyPr/>
          <a:lstStyle/>
          <a:p>
            <a:fld id="{20ADFFED-86B0-4E63-B7C7-F8A98DACA0B1}" type="datetimeFigureOut">
              <a:rPr lang="en-IN" smtClean="0"/>
              <a:t>30-10-2026</a:t>
            </a:fld>
            <a:endParaRPr lang="en-IN"/>
          </a:p>
        </p:txBody>
      </p:sp>
      <p:sp>
        <p:nvSpPr>
          <p:cNvPr id="6" name="Footer Placeholder 5">
            <a:extLst>
              <a:ext uri="{FF2B5EF4-FFF2-40B4-BE49-F238E27FC236}">
                <a16:creationId xmlns:a16="http://schemas.microsoft.com/office/drawing/2014/main" id="{4B827220-D15D-7B63-6F40-D3EF07B9D4F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16CB720-9C3B-ADD9-C1CA-C3C004808E28}"/>
              </a:ext>
            </a:extLst>
          </p:cNvPr>
          <p:cNvSpPr>
            <a:spLocks noGrp="1"/>
          </p:cNvSpPr>
          <p:nvPr>
            <p:ph type="sldNum" sz="quarter" idx="12"/>
          </p:nvPr>
        </p:nvSpPr>
        <p:spPr/>
        <p:txBody>
          <a:bodyPr/>
          <a:lstStyle/>
          <a:p>
            <a:fld id="{3F50BDC0-5880-46A9-B8C3-AB9B8C096BC1}" type="slidenum">
              <a:rPr lang="en-IN" smtClean="0"/>
              <a:t>‹#›</a:t>
            </a:fld>
            <a:endParaRPr lang="en-IN"/>
          </a:p>
        </p:txBody>
      </p:sp>
    </p:spTree>
    <p:extLst>
      <p:ext uri="{BB962C8B-B14F-4D97-AF65-F5344CB8AC3E}">
        <p14:creationId xmlns:p14="http://schemas.microsoft.com/office/powerpoint/2010/main" val="25922591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8D0C7-7003-621D-3A49-F46BB5F383E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35B9367-250A-557E-712A-C9BE10A0546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45B6761-598B-2DDD-81C7-25AAB2717B38}"/>
              </a:ext>
            </a:extLst>
          </p:cNvPr>
          <p:cNvSpPr>
            <a:spLocks noGrp="1"/>
          </p:cNvSpPr>
          <p:nvPr>
            <p:ph type="dt" sz="half" idx="10"/>
          </p:nvPr>
        </p:nvSpPr>
        <p:spPr/>
        <p:txBody>
          <a:bodyPr/>
          <a:lstStyle/>
          <a:p>
            <a:fld id="{20ADFFED-86B0-4E63-B7C7-F8A98DACA0B1}" type="datetimeFigureOut">
              <a:rPr lang="en-IN" smtClean="0"/>
              <a:t>30-10-2026</a:t>
            </a:fld>
            <a:endParaRPr lang="en-IN"/>
          </a:p>
        </p:txBody>
      </p:sp>
      <p:sp>
        <p:nvSpPr>
          <p:cNvPr id="5" name="Footer Placeholder 4">
            <a:extLst>
              <a:ext uri="{FF2B5EF4-FFF2-40B4-BE49-F238E27FC236}">
                <a16:creationId xmlns:a16="http://schemas.microsoft.com/office/drawing/2014/main" id="{957D1962-A5D2-7DB4-CD5C-5F87A4ADCEB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80E0E3D-EE1B-E120-9745-93886E2B79D5}"/>
              </a:ext>
            </a:extLst>
          </p:cNvPr>
          <p:cNvSpPr>
            <a:spLocks noGrp="1"/>
          </p:cNvSpPr>
          <p:nvPr>
            <p:ph type="sldNum" sz="quarter" idx="12"/>
          </p:nvPr>
        </p:nvSpPr>
        <p:spPr/>
        <p:txBody>
          <a:bodyPr/>
          <a:lstStyle/>
          <a:p>
            <a:fld id="{3F50BDC0-5880-46A9-B8C3-AB9B8C096BC1}" type="slidenum">
              <a:rPr lang="en-IN" smtClean="0"/>
              <a:t>‹#›</a:t>
            </a:fld>
            <a:endParaRPr lang="en-IN"/>
          </a:p>
        </p:txBody>
      </p:sp>
    </p:spTree>
    <p:extLst>
      <p:ext uri="{BB962C8B-B14F-4D97-AF65-F5344CB8AC3E}">
        <p14:creationId xmlns:p14="http://schemas.microsoft.com/office/powerpoint/2010/main" val="39262556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3519083-38D0-DCEC-F6E7-D03898819E0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4B6DE84-F8B0-B0EB-1B85-222C78B7C1E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D9A9255-FC8B-6646-53AE-F68E6022B902}"/>
              </a:ext>
            </a:extLst>
          </p:cNvPr>
          <p:cNvSpPr>
            <a:spLocks noGrp="1"/>
          </p:cNvSpPr>
          <p:nvPr>
            <p:ph type="dt" sz="half" idx="10"/>
          </p:nvPr>
        </p:nvSpPr>
        <p:spPr/>
        <p:txBody>
          <a:bodyPr/>
          <a:lstStyle/>
          <a:p>
            <a:fld id="{20ADFFED-86B0-4E63-B7C7-F8A98DACA0B1}" type="datetimeFigureOut">
              <a:rPr lang="en-IN" smtClean="0"/>
              <a:t>30-10-2026</a:t>
            </a:fld>
            <a:endParaRPr lang="en-IN"/>
          </a:p>
        </p:txBody>
      </p:sp>
      <p:sp>
        <p:nvSpPr>
          <p:cNvPr id="5" name="Footer Placeholder 4">
            <a:extLst>
              <a:ext uri="{FF2B5EF4-FFF2-40B4-BE49-F238E27FC236}">
                <a16:creationId xmlns:a16="http://schemas.microsoft.com/office/drawing/2014/main" id="{7E4BCAEB-D55F-E4A8-7B28-6DCF784D8C5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75022B6-01F1-F503-8AC6-FEE2B9D2CF2C}"/>
              </a:ext>
            </a:extLst>
          </p:cNvPr>
          <p:cNvSpPr>
            <a:spLocks noGrp="1"/>
          </p:cNvSpPr>
          <p:nvPr>
            <p:ph type="sldNum" sz="quarter" idx="12"/>
          </p:nvPr>
        </p:nvSpPr>
        <p:spPr/>
        <p:txBody>
          <a:bodyPr/>
          <a:lstStyle/>
          <a:p>
            <a:fld id="{3F50BDC0-5880-46A9-B8C3-AB9B8C096BC1}" type="slidenum">
              <a:rPr lang="en-IN" smtClean="0"/>
              <a:t>‹#›</a:t>
            </a:fld>
            <a:endParaRPr lang="en-IN"/>
          </a:p>
        </p:txBody>
      </p:sp>
    </p:spTree>
    <p:extLst>
      <p:ext uri="{BB962C8B-B14F-4D97-AF65-F5344CB8AC3E}">
        <p14:creationId xmlns:p14="http://schemas.microsoft.com/office/powerpoint/2010/main" val="3280255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52EDDC-FC99-F75A-479A-B581DEF6D6A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B995DA6-D9D8-68AB-CD75-61280BFEDCA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0A04878-26D2-6CB5-A8E8-4387D13165C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0ADFFED-86B0-4E63-B7C7-F8A98DACA0B1}" type="datetimeFigureOut">
              <a:rPr lang="en-IN" smtClean="0"/>
              <a:t>30-10-2026</a:t>
            </a:fld>
            <a:endParaRPr lang="en-IN"/>
          </a:p>
        </p:txBody>
      </p:sp>
      <p:sp>
        <p:nvSpPr>
          <p:cNvPr id="5" name="Footer Placeholder 4">
            <a:extLst>
              <a:ext uri="{FF2B5EF4-FFF2-40B4-BE49-F238E27FC236}">
                <a16:creationId xmlns:a16="http://schemas.microsoft.com/office/drawing/2014/main" id="{8FD59F98-D688-AEEF-AD3A-D6F98D7A038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D118ED9-8944-FFC8-99C9-71BAFDCDBC8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F50BDC0-5880-46A9-B8C3-AB9B8C096BC1}" type="slidenum">
              <a:rPr lang="en-IN" smtClean="0"/>
              <a:t>‹#›</a:t>
            </a:fld>
            <a:endParaRPr lang="en-IN"/>
          </a:p>
        </p:txBody>
      </p:sp>
    </p:spTree>
    <p:extLst>
      <p:ext uri="{BB962C8B-B14F-4D97-AF65-F5344CB8AC3E}">
        <p14:creationId xmlns:p14="http://schemas.microsoft.com/office/powerpoint/2010/main" val="2245475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hyperlink" Target="https://github.com/OjasZende/securepay_simulator_LnT" TargetMode="Externa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B3F"/>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599A5F7-B3E5-3DBA-D947-BABF3CE031F0}"/>
              </a:ext>
            </a:extLst>
          </p:cNvPr>
          <p:cNvSpPr txBox="1"/>
          <p:nvPr/>
        </p:nvSpPr>
        <p:spPr>
          <a:xfrm>
            <a:off x="11049000" y="6388100"/>
            <a:ext cx="508000" cy="254000"/>
          </a:xfrm>
          <a:prstGeom prst="rect">
            <a:avLst/>
          </a:prstGeom>
          <a:noFill/>
        </p:spPr>
        <p:txBody>
          <a:bodyPr vert="horz" wrap="square" lIns="0" tIns="0" rIns="0" bIns="0" rtlCol="0">
            <a:noAutofit/>
          </a:bodyPr>
          <a:lstStyle/>
          <a:p>
            <a:r>
              <a:rPr lang="en-IN" sz="1100">
                <a:solidFill>
                  <a:srgbClr val="6BD4C3"/>
                </a:solidFill>
                <a:latin typeface="Arial" panose="020B0604020202020204" pitchFamily="34" charset="0"/>
              </a:rPr>
              <a:t>01</a:t>
            </a:r>
          </a:p>
        </p:txBody>
      </p:sp>
      <p:sp>
        <p:nvSpPr>
          <p:cNvPr id="4" name="TextBox 3">
            <a:extLst>
              <a:ext uri="{FF2B5EF4-FFF2-40B4-BE49-F238E27FC236}">
                <a16:creationId xmlns:a16="http://schemas.microsoft.com/office/drawing/2014/main" id="{E844F3FD-B01D-8FB3-05DE-B3EE30FF76EA}"/>
              </a:ext>
            </a:extLst>
          </p:cNvPr>
          <p:cNvSpPr txBox="1"/>
          <p:nvPr/>
        </p:nvSpPr>
        <p:spPr>
          <a:xfrm>
            <a:off x="609600" y="551543"/>
            <a:ext cx="10972800" cy="990600"/>
          </a:xfrm>
          <a:prstGeom prst="rect">
            <a:avLst/>
          </a:prstGeom>
          <a:noFill/>
        </p:spPr>
        <p:txBody>
          <a:bodyPr vert="horz" wrap="square" lIns="0" tIns="0" rIns="0" bIns="0" rtlCol="0">
            <a:noAutofit/>
          </a:bodyPr>
          <a:lstStyle/>
          <a:p>
            <a:r>
              <a:rPr lang="en-IN" sz="6400" b="1" dirty="0" err="1">
                <a:solidFill>
                  <a:srgbClr val="F5F3ED"/>
                </a:solidFill>
                <a:latin typeface="Arial" panose="020B0604020202020204" pitchFamily="34" charset="0"/>
              </a:rPr>
              <a:t>SecurePay</a:t>
            </a:r>
            <a:endParaRPr lang="en-IN" sz="6400" b="1" dirty="0">
              <a:solidFill>
                <a:srgbClr val="F5F3ED"/>
              </a:solidFill>
              <a:latin typeface="Arial" panose="020B0604020202020204" pitchFamily="34" charset="0"/>
            </a:endParaRPr>
          </a:p>
        </p:txBody>
      </p:sp>
      <p:sp>
        <p:nvSpPr>
          <p:cNvPr id="5" name="TextBox 4">
            <a:extLst>
              <a:ext uri="{FF2B5EF4-FFF2-40B4-BE49-F238E27FC236}">
                <a16:creationId xmlns:a16="http://schemas.microsoft.com/office/drawing/2014/main" id="{9D889FFE-803F-8E0D-5B53-AD0E69EFC448}"/>
              </a:ext>
            </a:extLst>
          </p:cNvPr>
          <p:cNvSpPr txBox="1"/>
          <p:nvPr/>
        </p:nvSpPr>
        <p:spPr>
          <a:xfrm>
            <a:off x="609600" y="1567543"/>
            <a:ext cx="10972800" cy="863600"/>
          </a:xfrm>
          <a:prstGeom prst="rect">
            <a:avLst/>
          </a:prstGeom>
          <a:noFill/>
        </p:spPr>
        <p:txBody>
          <a:bodyPr vert="horz" wrap="square" lIns="0" tIns="0" rIns="0" bIns="0" rtlCol="0">
            <a:noAutofit/>
          </a:bodyPr>
          <a:lstStyle/>
          <a:p>
            <a:r>
              <a:rPr lang="en-IN" sz="5000" dirty="0">
                <a:solidFill>
                  <a:srgbClr val="6BD4C3"/>
                </a:solidFill>
                <a:latin typeface="Arial" panose="020B0604020202020204" pitchFamily="34" charset="0"/>
              </a:rPr>
              <a:t>Simulator</a:t>
            </a:r>
          </a:p>
        </p:txBody>
      </p:sp>
      <p:sp>
        <p:nvSpPr>
          <p:cNvPr id="6" name="TextBox 5">
            <a:extLst>
              <a:ext uri="{FF2B5EF4-FFF2-40B4-BE49-F238E27FC236}">
                <a16:creationId xmlns:a16="http://schemas.microsoft.com/office/drawing/2014/main" id="{DB8A6788-B9AA-70A6-05BA-3573873A8625}"/>
              </a:ext>
            </a:extLst>
          </p:cNvPr>
          <p:cNvSpPr txBox="1"/>
          <p:nvPr/>
        </p:nvSpPr>
        <p:spPr>
          <a:xfrm>
            <a:off x="647700" y="2456543"/>
            <a:ext cx="10414000" cy="1651002"/>
          </a:xfrm>
          <a:prstGeom prst="rect">
            <a:avLst/>
          </a:prstGeom>
          <a:noFill/>
        </p:spPr>
        <p:txBody>
          <a:bodyPr vert="horz" wrap="square" lIns="0" tIns="0" rIns="0" bIns="0" rtlCol="0">
            <a:noAutofit/>
          </a:bodyPr>
          <a:lstStyle/>
          <a:p>
            <a:r>
              <a:rPr lang="en-US" sz="2500" dirty="0">
                <a:solidFill>
                  <a:srgbClr val="F5F3ED"/>
                </a:solidFill>
                <a:latin typeface="Arial" panose="020B0604020202020204" pitchFamily="34" charset="0"/>
              </a:rPr>
              <a:t>FinTech payment security with fictional data</a:t>
            </a:r>
          </a:p>
          <a:p>
            <a:endParaRPr lang="en-US" sz="2500" dirty="0">
              <a:solidFill>
                <a:srgbClr val="F5F3ED"/>
              </a:solidFill>
              <a:latin typeface="Arial" panose="020B0604020202020204" pitchFamily="34" charset="0"/>
            </a:endParaRPr>
          </a:p>
          <a:p>
            <a:r>
              <a:rPr lang="en-IN" sz="2500" dirty="0">
                <a:solidFill>
                  <a:srgbClr val="F5F3ED"/>
                </a:solidFill>
                <a:latin typeface="Arial" panose="020B0604020202020204" pitchFamily="34" charset="0"/>
              </a:rPr>
              <a:t>Group 8:</a:t>
            </a:r>
          </a:p>
          <a:p>
            <a:r>
              <a:rPr lang="en-IN" sz="2500" dirty="0">
                <a:solidFill>
                  <a:srgbClr val="F5F3ED"/>
                </a:solidFill>
                <a:latin typeface="Arial" panose="020B0604020202020204" pitchFamily="34" charset="0"/>
              </a:rPr>
              <a:t>Smit Shah</a:t>
            </a:r>
          </a:p>
          <a:p>
            <a:r>
              <a:rPr lang="en-IN" sz="2500" dirty="0">
                <a:solidFill>
                  <a:srgbClr val="F5F3ED"/>
                </a:solidFill>
                <a:latin typeface="Arial" panose="020B0604020202020204" pitchFamily="34" charset="0"/>
              </a:rPr>
              <a:t>Rugved Chavan</a:t>
            </a:r>
          </a:p>
          <a:p>
            <a:r>
              <a:rPr lang="en-IN" sz="2500" dirty="0">
                <a:solidFill>
                  <a:srgbClr val="F5F3ED"/>
                </a:solidFill>
                <a:latin typeface="Arial" panose="020B0604020202020204" pitchFamily="34" charset="0"/>
              </a:rPr>
              <a:t>Ahmad Azmi</a:t>
            </a:r>
          </a:p>
          <a:p>
            <a:r>
              <a:rPr lang="en-IN" sz="2500" dirty="0">
                <a:solidFill>
                  <a:srgbClr val="F5F3ED"/>
                </a:solidFill>
                <a:latin typeface="Arial" panose="020B0604020202020204" pitchFamily="34" charset="0"/>
              </a:rPr>
              <a:t>Ojas </a:t>
            </a:r>
            <a:r>
              <a:rPr lang="en-IN" sz="2500" dirty="0" err="1">
                <a:solidFill>
                  <a:srgbClr val="F5F3ED"/>
                </a:solidFill>
                <a:latin typeface="Arial" panose="020B0604020202020204" pitchFamily="34" charset="0"/>
              </a:rPr>
              <a:t>Zende</a:t>
            </a:r>
            <a:endParaRPr lang="en-IN" sz="2500" dirty="0">
              <a:solidFill>
                <a:srgbClr val="F5F3ED"/>
              </a:solidFill>
              <a:latin typeface="Arial" panose="020B0604020202020204" pitchFamily="34" charset="0"/>
            </a:endParaRPr>
          </a:p>
          <a:p>
            <a:endParaRPr lang="en-IN" sz="2500" dirty="0">
              <a:solidFill>
                <a:srgbClr val="F5F3ED"/>
              </a:solidFill>
              <a:latin typeface="Arial" panose="020B0604020202020204" pitchFamily="34" charset="0"/>
            </a:endParaRPr>
          </a:p>
          <a:p>
            <a:endParaRPr lang="en-IN" sz="2500" dirty="0">
              <a:solidFill>
                <a:srgbClr val="F5F3ED"/>
              </a:solidFill>
              <a:latin typeface="Arial" panose="020B0604020202020204" pitchFamily="34" charset="0"/>
            </a:endParaRPr>
          </a:p>
        </p:txBody>
      </p:sp>
      <p:sp>
        <p:nvSpPr>
          <p:cNvPr id="7" name="TextBox 6">
            <a:extLst>
              <a:ext uri="{FF2B5EF4-FFF2-40B4-BE49-F238E27FC236}">
                <a16:creationId xmlns:a16="http://schemas.microsoft.com/office/drawing/2014/main" id="{DDDAB02F-B467-E9C9-1B61-C85BB206D770}"/>
              </a:ext>
            </a:extLst>
          </p:cNvPr>
          <p:cNvSpPr txBox="1"/>
          <p:nvPr/>
        </p:nvSpPr>
        <p:spPr>
          <a:xfrm>
            <a:off x="647700" y="5397499"/>
            <a:ext cx="10414000" cy="330200"/>
          </a:xfrm>
          <a:prstGeom prst="rect">
            <a:avLst/>
          </a:prstGeom>
          <a:noFill/>
        </p:spPr>
        <p:txBody>
          <a:bodyPr vert="horz" wrap="square" lIns="0" tIns="0" rIns="0" bIns="0" rtlCol="0">
            <a:noAutofit/>
          </a:bodyPr>
          <a:lstStyle/>
          <a:p>
            <a:r>
              <a:rPr lang="en-IN" sz="1700" dirty="0">
                <a:solidFill>
                  <a:srgbClr val="6BD4C3"/>
                </a:solidFill>
                <a:latin typeface="Arial" panose="020B0604020202020204" pitchFamily="34" charset="0"/>
              </a:rPr>
              <a:t>Problem Statement 03</a:t>
            </a:r>
          </a:p>
        </p:txBody>
      </p:sp>
    </p:spTree>
    <p:extLst>
      <p:ext uri="{BB962C8B-B14F-4D97-AF65-F5344CB8AC3E}">
        <p14:creationId xmlns:p14="http://schemas.microsoft.com/office/powerpoint/2010/main" val="37270031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4D4887D-236B-78DD-4689-6495B8F0E261}"/>
              </a:ext>
            </a:extLst>
          </p:cNvPr>
          <p:cNvSpPr txBox="1"/>
          <p:nvPr/>
        </p:nvSpPr>
        <p:spPr>
          <a:xfrm>
            <a:off x="609600" y="482599"/>
            <a:ext cx="10972800" cy="863600"/>
          </a:xfrm>
          <a:prstGeom prst="rect">
            <a:avLst/>
          </a:prstGeom>
          <a:noFill/>
        </p:spPr>
        <p:txBody>
          <a:bodyPr vert="horz" wrap="square" lIns="0" tIns="0" rIns="0" bIns="0" rtlCol="0">
            <a:noAutofit/>
          </a:bodyPr>
          <a:lstStyle/>
          <a:p>
            <a:r>
              <a:rPr lang="en-IN" sz="3200" b="1">
                <a:solidFill>
                  <a:srgbClr val="102B3F"/>
                </a:solidFill>
                <a:latin typeface="Arial" panose="020B0604020202020204" pitchFamily="34" charset="0"/>
              </a:rPr>
              <a:t>Project purpose</a:t>
            </a:r>
          </a:p>
        </p:txBody>
      </p:sp>
      <p:sp>
        <p:nvSpPr>
          <p:cNvPr id="3" name="TextBox 2">
            <a:extLst>
              <a:ext uri="{FF2B5EF4-FFF2-40B4-BE49-F238E27FC236}">
                <a16:creationId xmlns:a16="http://schemas.microsoft.com/office/drawing/2014/main" id="{5BD7C62C-4350-6848-0CD5-24623BD6BF5B}"/>
              </a:ext>
            </a:extLst>
          </p:cNvPr>
          <p:cNvSpPr txBox="1"/>
          <p:nvPr/>
        </p:nvSpPr>
        <p:spPr>
          <a:xfrm>
            <a:off x="11049000" y="6388100"/>
            <a:ext cx="508000" cy="254000"/>
          </a:xfrm>
          <a:prstGeom prst="rect">
            <a:avLst/>
          </a:prstGeom>
          <a:noFill/>
        </p:spPr>
        <p:txBody>
          <a:bodyPr vert="horz" wrap="square" lIns="0" tIns="0" rIns="0" bIns="0" rtlCol="0">
            <a:noAutofit/>
          </a:bodyPr>
          <a:lstStyle/>
          <a:p>
            <a:r>
              <a:rPr lang="en-IN" sz="1100">
                <a:solidFill>
                  <a:srgbClr val="526674"/>
                </a:solidFill>
                <a:latin typeface="Arial" panose="020B0604020202020204" pitchFamily="34" charset="0"/>
              </a:rPr>
              <a:t>02</a:t>
            </a:r>
          </a:p>
        </p:txBody>
      </p:sp>
      <p:sp>
        <p:nvSpPr>
          <p:cNvPr id="4" name="TextBox 3">
            <a:extLst>
              <a:ext uri="{FF2B5EF4-FFF2-40B4-BE49-F238E27FC236}">
                <a16:creationId xmlns:a16="http://schemas.microsoft.com/office/drawing/2014/main" id="{F47B107A-E945-5586-6866-9771BFF9124A}"/>
              </a:ext>
            </a:extLst>
          </p:cNvPr>
          <p:cNvSpPr txBox="1"/>
          <p:nvPr/>
        </p:nvSpPr>
        <p:spPr>
          <a:xfrm>
            <a:off x="609600" y="1714499"/>
            <a:ext cx="10795000" cy="736600"/>
          </a:xfrm>
          <a:prstGeom prst="rect">
            <a:avLst/>
          </a:prstGeom>
          <a:noFill/>
        </p:spPr>
        <p:txBody>
          <a:bodyPr vert="horz" wrap="square" lIns="0" tIns="0" rIns="0" bIns="0" rtlCol="0">
            <a:noAutofit/>
          </a:bodyPr>
          <a:lstStyle/>
          <a:p>
            <a:r>
              <a:rPr lang="en-US" sz="2800" b="1">
                <a:solidFill>
                  <a:srgbClr val="087F83"/>
                </a:solidFill>
                <a:latin typeface="Arial" panose="020B0604020202020204" pitchFamily="34" charset="0"/>
              </a:rPr>
              <a:t>Payment data needs protection at every stage</a:t>
            </a:r>
            <a:endParaRPr lang="en-IN" sz="2800" b="1">
              <a:solidFill>
                <a:srgbClr val="087F83"/>
              </a:solidFill>
              <a:latin typeface="Arial" panose="020B0604020202020204" pitchFamily="34" charset="0"/>
            </a:endParaRPr>
          </a:p>
        </p:txBody>
      </p:sp>
      <p:sp>
        <p:nvSpPr>
          <p:cNvPr id="5" name="TextBox 4">
            <a:extLst>
              <a:ext uri="{FF2B5EF4-FFF2-40B4-BE49-F238E27FC236}">
                <a16:creationId xmlns:a16="http://schemas.microsoft.com/office/drawing/2014/main" id="{890599D8-F71A-A24B-B13D-270F7ABB38C7}"/>
              </a:ext>
            </a:extLst>
          </p:cNvPr>
          <p:cNvSpPr txBox="1"/>
          <p:nvPr/>
        </p:nvSpPr>
        <p:spPr>
          <a:xfrm>
            <a:off x="609600" y="2793999"/>
            <a:ext cx="2895600" cy="736600"/>
          </a:xfrm>
          <a:prstGeom prst="rect">
            <a:avLst/>
          </a:prstGeom>
          <a:noFill/>
        </p:spPr>
        <p:txBody>
          <a:bodyPr vert="horz" wrap="square" lIns="0" tIns="0" rIns="0" bIns="0" rtlCol="0">
            <a:noAutofit/>
          </a:bodyPr>
          <a:lstStyle/>
          <a:p>
            <a:r>
              <a:rPr lang="en-IN" sz="2100" b="1">
                <a:solidFill>
                  <a:srgbClr val="087F83"/>
                </a:solidFill>
                <a:latin typeface="Arial" panose="020B0604020202020204" pitchFamily="34" charset="0"/>
              </a:rPr>
              <a:t>Storage exposure</a:t>
            </a:r>
          </a:p>
        </p:txBody>
      </p:sp>
      <p:sp>
        <p:nvSpPr>
          <p:cNvPr id="6" name="TextBox 5">
            <a:extLst>
              <a:ext uri="{FF2B5EF4-FFF2-40B4-BE49-F238E27FC236}">
                <a16:creationId xmlns:a16="http://schemas.microsoft.com/office/drawing/2014/main" id="{F2518987-E430-F7D2-D9B2-2120CBF57398}"/>
              </a:ext>
            </a:extLst>
          </p:cNvPr>
          <p:cNvSpPr txBox="1"/>
          <p:nvPr/>
        </p:nvSpPr>
        <p:spPr>
          <a:xfrm>
            <a:off x="3873500" y="2793999"/>
            <a:ext cx="7581900" cy="914400"/>
          </a:xfrm>
          <a:prstGeom prst="rect">
            <a:avLst/>
          </a:prstGeom>
          <a:noFill/>
        </p:spPr>
        <p:txBody>
          <a:bodyPr vert="horz" wrap="square" lIns="0" tIns="0" rIns="0" bIns="0" rtlCol="0">
            <a:noAutofit/>
          </a:bodyPr>
          <a:lstStyle/>
          <a:p>
            <a:r>
              <a:rPr lang="en-US" sz="2100">
                <a:solidFill>
                  <a:srgbClr val="102B3F"/>
                </a:solidFill>
                <a:latin typeface="Arial" panose="020B0604020202020204" pitchFamily="34" charset="0"/>
              </a:rPr>
              <a:t>Compare readable customer details with encrypted email stored in SQLite.</a:t>
            </a:r>
            <a:endParaRPr lang="en-IN" sz="2100">
              <a:solidFill>
                <a:srgbClr val="102B3F"/>
              </a:solidFill>
              <a:latin typeface="Arial" panose="020B0604020202020204" pitchFamily="34" charset="0"/>
            </a:endParaRPr>
          </a:p>
        </p:txBody>
      </p:sp>
      <p:sp>
        <p:nvSpPr>
          <p:cNvPr id="7" name="TextBox 6">
            <a:extLst>
              <a:ext uri="{FF2B5EF4-FFF2-40B4-BE49-F238E27FC236}">
                <a16:creationId xmlns:a16="http://schemas.microsoft.com/office/drawing/2014/main" id="{B6A41813-8B73-BFAF-56A6-D0B5F72C13EA}"/>
              </a:ext>
            </a:extLst>
          </p:cNvPr>
          <p:cNvSpPr txBox="1"/>
          <p:nvPr/>
        </p:nvSpPr>
        <p:spPr>
          <a:xfrm>
            <a:off x="609600" y="3936999"/>
            <a:ext cx="2895600" cy="736600"/>
          </a:xfrm>
          <a:prstGeom prst="rect">
            <a:avLst/>
          </a:prstGeom>
          <a:noFill/>
        </p:spPr>
        <p:txBody>
          <a:bodyPr vert="horz" wrap="square" lIns="0" tIns="0" rIns="0" bIns="0" rtlCol="0">
            <a:noAutofit/>
          </a:bodyPr>
          <a:lstStyle/>
          <a:p>
            <a:r>
              <a:rPr lang="en-IN" sz="2100" b="1">
                <a:solidFill>
                  <a:srgbClr val="087F83"/>
                </a:solidFill>
                <a:latin typeface="Arial" panose="020B0604020202020204" pitchFamily="34" charset="0"/>
              </a:rPr>
              <a:t>Tampering and access</a:t>
            </a:r>
          </a:p>
        </p:txBody>
      </p:sp>
      <p:sp>
        <p:nvSpPr>
          <p:cNvPr id="8" name="TextBox 7">
            <a:extLst>
              <a:ext uri="{FF2B5EF4-FFF2-40B4-BE49-F238E27FC236}">
                <a16:creationId xmlns:a16="http://schemas.microsoft.com/office/drawing/2014/main" id="{8B787098-B3A3-D904-C304-4B51EA8F090E}"/>
              </a:ext>
            </a:extLst>
          </p:cNvPr>
          <p:cNvSpPr txBox="1"/>
          <p:nvPr/>
        </p:nvSpPr>
        <p:spPr>
          <a:xfrm>
            <a:off x="3873500" y="3936999"/>
            <a:ext cx="7581900" cy="914400"/>
          </a:xfrm>
          <a:prstGeom prst="rect">
            <a:avLst/>
          </a:prstGeom>
          <a:noFill/>
        </p:spPr>
        <p:txBody>
          <a:bodyPr vert="horz" wrap="square" lIns="0" tIns="0" rIns="0" bIns="0" rtlCol="0">
            <a:noAutofit/>
          </a:bodyPr>
          <a:lstStyle/>
          <a:p>
            <a:r>
              <a:rPr lang="en-US" sz="2100">
                <a:solidFill>
                  <a:srgbClr val="102B3F"/>
                </a:solidFill>
                <a:latin typeface="Arial" panose="020B0604020202020204" pitchFamily="34" charset="0"/>
              </a:rPr>
              <a:t>Demonstrate integrity checks, authenticated APIs, and signed receipts.</a:t>
            </a:r>
            <a:endParaRPr lang="en-IN" sz="2100">
              <a:solidFill>
                <a:srgbClr val="102B3F"/>
              </a:solidFill>
              <a:latin typeface="Arial" panose="020B0604020202020204" pitchFamily="34" charset="0"/>
            </a:endParaRPr>
          </a:p>
        </p:txBody>
      </p:sp>
      <p:sp>
        <p:nvSpPr>
          <p:cNvPr id="9" name="TextBox 8">
            <a:extLst>
              <a:ext uri="{FF2B5EF4-FFF2-40B4-BE49-F238E27FC236}">
                <a16:creationId xmlns:a16="http://schemas.microsoft.com/office/drawing/2014/main" id="{3D368318-7F03-ED76-C569-3D31DB254DB6}"/>
              </a:ext>
            </a:extLst>
          </p:cNvPr>
          <p:cNvSpPr txBox="1"/>
          <p:nvPr/>
        </p:nvSpPr>
        <p:spPr>
          <a:xfrm>
            <a:off x="609600" y="5079999"/>
            <a:ext cx="2895600" cy="736600"/>
          </a:xfrm>
          <a:prstGeom prst="rect">
            <a:avLst/>
          </a:prstGeom>
          <a:noFill/>
        </p:spPr>
        <p:txBody>
          <a:bodyPr vert="horz" wrap="square" lIns="0" tIns="0" rIns="0" bIns="0" rtlCol="0">
            <a:noAutofit/>
          </a:bodyPr>
          <a:lstStyle/>
          <a:p>
            <a:r>
              <a:rPr lang="en-IN" sz="2100" b="1">
                <a:solidFill>
                  <a:srgbClr val="087F83"/>
                </a:solidFill>
                <a:latin typeface="Arial" panose="020B0604020202020204" pitchFamily="34" charset="0"/>
              </a:rPr>
              <a:t>Excess collection</a:t>
            </a:r>
          </a:p>
        </p:txBody>
      </p:sp>
      <p:sp>
        <p:nvSpPr>
          <p:cNvPr id="10" name="TextBox 9">
            <a:extLst>
              <a:ext uri="{FF2B5EF4-FFF2-40B4-BE49-F238E27FC236}">
                <a16:creationId xmlns:a16="http://schemas.microsoft.com/office/drawing/2014/main" id="{A31C9419-C65F-B84B-6D9C-C1625E9A907B}"/>
              </a:ext>
            </a:extLst>
          </p:cNvPr>
          <p:cNvSpPr txBox="1"/>
          <p:nvPr/>
        </p:nvSpPr>
        <p:spPr>
          <a:xfrm>
            <a:off x="3873500" y="5079999"/>
            <a:ext cx="7581900" cy="914400"/>
          </a:xfrm>
          <a:prstGeom prst="rect">
            <a:avLst/>
          </a:prstGeom>
          <a:noFill/>
        </p:spPr>
        <p:txBody>
          <a:bodyPr vert="horz" wrap="square" lIns="0" tIns="0" rIns="0" bIns="0" rtlCol="0">
            <a:noAutofit/>
          </a:bodyPr>
          <a:lstStyle/>
          <a:p>
            <a:r>
              <a:rPr lang="en-US" sz="2100">
                <a:solidFill>
                  <a:srgbClr val="102B3F"/>
                </a:solidFill>
                <a:latin typeface="Arial" panose="020B0604020202020204" pitchFamily="34" charset="0"/>
              </a:rPr>
              <a:t>Reject unnecessary fields and explain the purpose of collected data.</a:t>
            </a:r>
            <a:endParaRPr lang="en-IN" sz="2100">
              <a:solidFill>
                <a:srgbClr val="102B3F"/>
              </a:solidFill>
              <a:latin typeface="Arial" panose="020B0604020202020204" pitchFamily="34" charset="0"/>
            </a:endParaRPr>
          </a:p>
        </p:txBody>
      </p:sp>
    </p:spTree>
    <p:extLst>
      <p:ext uri="{BB962C8B-B14F-4D97-AF65-F5344CB8AC3E}">
        <p14:creationId xmlns:p14="http://schemas.microsoft.com/office/powerpoint/2010/main" val="35866176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3118ABD-6DCD-2E22-2AB0-013274BF2C59}"/>
              </a:ext>
            </a:extLst>
          </p:cNvPr>
          <p:cNvSpPr txBox="1"/>
          <p:nvPr/>
        </p:nvSpPr>
        <p:spPr>
          <a:xfrm>
            <a:off x="609600" y="482599"/>
            <a:ext cx="10972800" cy="863600"/>
          </a:xfrm>
          <a:prstGeom prst="rect">
            <a:avLst/>
          </a:prstGeom>
          <a:noFill/>
        </p:spPr>
        <p:txBody>
          <a:bodyPr vert="horz" wrap="square" lIns="0" tIns="0" rIns="0" bIns="0" rtlCol="0">
            <a:noAutofit/>
          </a:bodyPr>
          <a:lstStyle/>
          <a:p>
            <a:r>
              <a:rPr lang="en-IN" sz="3200" b="1">
                <a:solidFill>
                  <a:srgbClr val="102B3F"/>
                </a:solidFill>
                <a:latin typeface="Arial" panose="020B0604020202020204" pitchFamily="34" charset="0"/>
              </a:rPr>
              <a:t>System architecture</a:t>
            </a:r>
          </a:p>
        </p:txBody>
      </p:sp>
      <p:sp>
        <p:nvSpPr>
          <p:cNvPr id="3" name="TextBox 2">
            <a:extLst>
              <a:ext uri="{FF2B5EF4-FFF2-40B4-BE49-F238E27FC236}">
                <a16:creationId xmlns:a16="http://schemas.microsoft.com/office/drawing/2014/main" id="{C13EAF03-79FF-7E2B-A719-F631615169E3}"/>
              </a:ext>
            </a:extLst>
          </p:cNvPr>
          <p:cNvSpPr txBox="1"/>
          <p:nvPr/>
        </p:nvSpPr>
        <p:spPr>
          <a:xfrm>
            <a:off x="11049000" y="6388100"/>
            <a:ext cx="508000" cy="254000"/>
          </a:xfrm>
          <a:prstGeom prst="rect">
            <a:avLst/>
          </a:prstGeom>
          <a:noFill/>
        </p:spPr>
        <p:txBody>
          <a:bodyPr vert="horz" wrap="square" lIns="0" tIns="0" rIns="0" bIns="0" rtlCol="0">
            <a:noAutofit/>
          </a:bodyPr>
          <a:lstStyle/>
          <a:p>
            <a:r>
              <a:rPr lang="en-IN" sz="1100">
                <a:solidFill>
                  <a:srgbClr val="526674"/>
                </a:solidFill>
                <a:latin typeface="Arial" panose="020B0604020202020204" pitchFamily="34" charset="0"/>
              </a:rPr>
              <a:t>03</a:t>
            </a:r>
          </a:p>
        </p:txBody>
      </p:sp>
      <p:sp>
        <p:nvSpPr>
          <p:cNvPr id="4" name="TextBox 3">
            <a:extLst>
              <a:ext uri="{FF2B5EF4-FFF2-40B4-BE49-F238E27FC236}">
                <a16:creationId xmlns:a16="http://schemas.microsoft.com/office/drawing/2014/main" id="{AFC637DA-1564-FC01-3F97-6D7F680920CB}"/>
              </a:ext>
            </a:extLst>
          </p:cNvPr>
          <p:cNvSpPr txBox="1"/>
          <p:nvPr/>
        </p:nvSpPr>
        <p:spPr>
          <a:xfrm>
            <a:off x="609600" y="1447799"/>
            <a:ext cx="10972800" cy="482600"/>
          </a:xfrm>
          <a:prstGeom prst="rect">
            <a:avLst/>
          </a:prstGeom>
          <a:noFill/>
        </p:spPr>
        <p:txBody>
          <a:bodyPr vert="horz" wrap="square" lIns="0" tIns="0" rIns="0" bIns="0" rtlCol="0">
            <a:noAutofit/>
          </a:bodyPr>
          <a:lstStyle/>
          <a:p>
            <a:r>
              <a:rPr lang="en-US" sz="2000">
                <a:solidFill>
                  <a:srgbClr val="526674"/>
                </a:solidFill>
                <a:latin typeface="Arial" panose="020B0604020202020204" pitchFamily="34" charset="0"/>
              </a:rPr>
              <a:t>One local Python application serves the dashboard and APIs</a:t>
            </a:r>
            <a:endParaRPr lang="en-IN" sz="2000">
              <a:solidFill>
                <a:srgbClr val="526674"/>
              </a:solidFill>
              <a:latin typeface="Arial" panose="020B0604020202020204" pitchFamily="34" charset="0"/>
            </a:endParaRPr>
          </a:p>
        </p:txBody>
      </p:sp>
      <p:graphicFrame>
        <p:nvGraphicFramePr>
          <p:cNvPr id="5" name="Table 4">
            <a:extLst>
              <a:ext uri="{FF2B5EF4-FFF2-40B4-BE49-F238E27FC236}">
                <a16:creationId xmlns:a16="http://schemas.microsoft.com/office/drawing/2014/main" id="{16420479-BBA0-9F7A-3882-07B0B5285F9E}"/>
              </a:ext>
            </a:extLst>
          </p:cNvPr>
          <p:cNvGraphicFramePr>
            <a:graphicFrameLocks noGrp="1"/>
          </p:cNvGraphicFramePr>
          <p:nvPr>
            <p:extLst>
              <p:ext uri="{D42A27DB-BD31-4B8C-83A1-F6EECF244321}">
                <p14:modId xmlns:p14="http://schemas.microsoft.com/office/powerpoint/2010/main" val="2140735156"/>
              </p:ext>
            </p:extLst>
          </p:nvPr>
        </p:nvGraphicFramePr>
        <p:xfrm>
          <a:off x="609600" y="2171700"/>
          <a:ext cx="10972800" cy="3383280"/>
        </p:xfrm>
        <a:graphic>
          <a:graphicData uri="http://schemas.openxmlformats.org/drawingml/2006/table">
            <a:tbl>
              <a:tblPr firstRow="1" bandRow="1">
                <a:tableStyleId>{5C22544A-7EE6-4342-B048-85BDC9FD1C3A}</a:tableStyleId>
              </a:tblPr>
              <a:tblGrid>
                <a:gridCol w="2222500">
                  <a:extLst>
                    <a:ext uri="{9D8B030D-6E8A-4147-A177-3AD203B41FA5}">
                      <a16:colId xmlns:a16="http://schemas.microsoft.com/office/drawing/2014/main" val="1425013094"/>
                    </a:ext>
                  </a:extLst>
                </a:gridCol>
                <a:gridCol w="3365500">
                  <a:extLst>
                    <a:ext uri="{9D8B030D-6E8A-4147-A177-3AD203B41FA5}">
                      <a16:colId xmlns:a16="http://schemas.microsoft.com/office/drawing/2014/main" val="783888958"/>
                    </a:ext>
                  </a:extLst>
                </a:gridCol>
                <a:gridCol w="5384800">
                  <a:extLst>
                    <a:ext uri="{9D8B030D-6E8A-4147-A177-3AD203B41FA5}">
                      <a16:colId xmlns:a16="http://schemas.microsoft.com/office/drawing/2014/main" val="2496795437"/>
                    </a:ext>
                  </a:extLst>
                </a:gridCol>
              </a:tblGrid>
              <a:tr h="558800">
                <a:tc>
                  <a:txBody>
                    <a:bodyPr/>
                    <a:lstStyle/>
                    <a:p>
                      <a:r>
                        <a:rPr lang="en-IN" sz="1800" b="1">
                          <a:solidFill>
                            <a:srgbClr val="FFFFFF"/>
                          </a:solidFill>
                          <a:latin typeface="Arial" panose="020B0604020202020204" pitchFamily="34" charset="0"/>
                        </a:rPr>
                        <a:t>Layer</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102B3F"/>
                    </a:solidFill>
                  </a:tcPr>
                </a:tc>
                <a:tc>
                  <a:txBody>
                    <a:bodyPr/>
                    <a:lstStyle/>
                    <a:p>
                      <a:r>
                        <a:rPr lang="en-IN" sz="1800" b="1">
                          <a:solidFill>
                            <a:srgbClr val="FFFFFF"/>
                          </a:solidFill>
                          <a:latin typeface="Arial" panose="020B0604020202020204" pitchFamily="34" charset="0"/>
                        </a:rPr>
                        <a:t>Technology</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102B3F"/>
                    </a:solidFill>
                  </a:tcPr>
                </a:tc>
                <a:tc>
                  <a:txBody>
                    <a:bodyPr/>
                    <a:lstStyle/>
                    <a:p>
                      <a:r>
                        <a:rPr lang="en-IN" sz="1800" b="1">
                          <a:solidFill>
                            <a:srgbClr val="FFFFFF"/>
                          </a:solidFill>
                          <a:latin typeface="Arial" panose="020B0604020202020204" pitchFamily="34" charset="0"/>
                        </a:rPr>
                        <a:t>Responsibility</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102B3F"/>
                    </a:solidFill>
                  </a:tcPr>
                </a:tc>
                <a:extLst>
                  <a:ext uri="{0D108BD9-81ED-4DB2-BD59-A6C34878D82A}">
                    <a16:rowId xmlns:a16="http://schemas.microsoft.com/office/drawing/2014/main" val="3632431218"/>
                  </a:ext>
                </a:extLst>
              </a:tr>
              <a:tr h="706120">
                <a:tc>
                  <a:txBody>
                    <a:bodyPr/>
                    <a:lstStyle/>
                    <a:p>
                      <a:r>
                        <a:rPr lang="en-IN" sz="1800" b="0">
                          <a:solidFill>
                            <a:srgbClr val="102B3F"/>
                          </a:solidFill>
                          <a:latin typeface="Arial" panose="020B0604020202020204" pitchFamily="34" charset="0"/>
                        </a:rPr>
                        <a:t>Browser</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tc>
                  <a:txBody>
                    <a:bodyPr/>
                    <a:lstStyle/>
                    <a:p>
                      <a:r>
                        <a:rPr lang="en-IN" sz="1800" b="0">
                          <a:solidFill>
                            <a:srgbClr val="102B3F"/>
                          </a:solidFill>
                          <a:latin typeface="Arial" panose="020B0604020202020204" pitchFamily="34" charset="0"/>
                        </a:rPr>
                        <a:t>HTML / CSS / JavaScript</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tc>
                  <a:txBody>
                    <a:bodyPr/>
                    <a:lstStyle/>
                    <a:p>
                      <a:r>
                        <a:rPr lang="en-IN" sz="1800" b="0">
                          <a:solidFill>
                            <a:srgbClr val="102B3F"/>
                          </a:solidFill>
                          <a:latin typeface="Arial" panose="020B0604020202020204" pitchFamily="34" charset="0"/>
                        </a:rPr>
                        <a:t>Dashboard and interactive labs</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extLst>
                  <a:ext uri="{0D108BD9-81ED-4DB2-BD59-A6C34878D82A}">
                    <a16:rowId xmlns:a16="http://schemas.microsoft.com/office/drawing/2014/main" val="3040255704"/>
                  </a:ext>
                </a:extLst>
              </a:tr>
              <a:tr h="706120">
                <a:tc>
                  <a:txBody>
                    <a:bodyPr/>
                    <a:lstStyle/>
                    <a:p>
                      <a:r>
                        <a:rPr lang="en-IN" sz="1800" b="0">
                          <a:solidFill>
                            <a:srgbClr val="102B3F"/>
                          </a:solidFill>
                          <a:latin typeface="Arial" panose="020B0604020202020204" pitchFamily="34" charset="0"/>
                        </a:rPr>
                        <a:t>API server</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tc>
                  <a:txBody>
                    <a:bodyPr/>
                    <a:lstStyle/>
                    <a:p>
                      <a:r>
                        <a:rPr lang="en-IN" sz="1800" b="0">
                          <a:solidFill>
                            <a:srgbClr val="102B3F"/>
                          </a:solidFill>
                          <a:latin typeface="Arial" panose="020B0604020202020204" pitchFamily="34" charset="0"/>
                        </a:rPr>
                        <a:t>FastAPI + Uvicorn</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tc>
                  <a:txBody>
                    <a:bodyPr/>
                    <a:lstStyle/>
                    <a:p>
                      <a:r>
                        <a:rPr lang="en-IN" sz="1800" b="0">
                          <a:solidFill>
                            <a:srgbClr val="102B3F"/>
                          </a:solidFill>
                          <a:latin typeface="Arial" panose="020B0604020202020204" pitchFamily="34" charset="0"/>
                        </a:rPr>
                        <a:t>HTTPS, authentication, validation</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extLst>
                  <a:ext uri="{0D108BD9-81ED-4DB2-BD59-A6C34878D82A}">
                    <a16:rowId xmlns:a16="http://schemas.microsoft.com/office/drawing/2014/main" val="2155869691"/>
                  </a:ext>
                </a:extLst>
              </a:tr>
              <a:tr h="706120">
                <a:tc>
                  <a:txBody>
                    <a:bodyPr/>
                    <a:lstStyle/>
                    <a:p>
                      <a:r>
                        <a:rPr lang="en-IN" sz="1800" b="0">
                          <a:solidFill>
                            <a:srgbClr val="102B3F"/>
                          </a:solidFill>
                          <a:latin typeface="Arial" panose="020B0604020202020204" pitchFamily="34" charset="0"/>
                        </a:rPr>
                        <a:t>Security logic</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tc>
                  <a:txBody>
                    <a:bodyPr/>
                    <a:lstStyle/>
                    <a:p>
                      <a:r>
                        <a:rPr lang="en-IN" sz="1800" b="0">
                          <a:solidFill>
                            <a:srgbClr val="102B3F"/>
                          </a:solidFill>
                          <a:latin typeface="Arial" panose="020B0604020202020204" pitchFamily="34" charset="0"/>
                        </a:rPr>
                        <a:t>cryptography + pwdlib</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tc>
                  <a:txBody>
                    <a:bodyPr/>
                    <a:lstStyle/>
                    <a:p>
                      <a:r>
                        <a:rPr lang="en-IN" sz="1800" b="0">
                          <a:solidFill>
                            <a:srgbClr val="102B3F"/>
                          </a:solidFill>
                          <a:latin typeface="Arial" panose="020B0604020202020204" pitchFamily="34" charset="0"/>
                        </a:rPr>
                        <a:t>Encryption, PKI, password hashing</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extLst>
                  <a:ext uri="{0D108BD9-81ED-4DB2-BD59-A6C34878D82A}">
                    <a16:rowId xmlns:a16="http://schemas.microsoft.com/office/drawing/2014/main" val="1718089222"/>
                  </a:ext>
                </a:extLst>
              </a:tr>
              <a:tr h="706120">
                <a:tc>
                  <a:txBody>
                    <a:bodyPr/>
                    <a:lstStyle/>
                    <a:p>
                      <a:r>
                        <a:rPr lang="en-IN" sz="1800" b="0">
                          <a:solidFill>
                            <a:srgbClr val="102B3F"/>
                          </a:solidFill>
                          <a:latin typeface="Arial" panose="020B0604020202020204" pitchFamily="34" charset="0"/>
                        </a:rPr>
                        <a:t>Local persistence</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tc>
                  <a:txBody>
                    <a:bodyPr/>
                    <a:lstStyle/>
                    <a:p>
                      <a:r>
                        <a:rPr lang="en-IN" sz="1800" b="0">
                          <a:solidFill>
                            <a:srgbClr val="102B3F"/>
                          </a:solidFill>
                          <a:latin typeface="Arial" panose="020B0604020202020204" pitchFamily="34" charset="0"/>
                        </a:rPr>
                        <a:t>SQLite + .secrets/</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tc>
                  <a:txBody>
                    <a:bodyPr/>
                    <a:lstStyle/>
                    <a:p>
                      <a:r>
                        <a:rPr lang="en-US" sz="1800" b="0">
                          <a:solidFill>
                            <a:srgbClr val="102B3F"/>
                          </a:solidFill>
                          <a:latin typeface="Arial" panose="020B0604020202020204" pitchFamily="34" charset="0"/>
                        </a:rPr>
                        <a:t>Records, audit events, key files</a:t>
                      </a:r>
                      <a:endParaRPr lang="en-IN" sz="1800" b="0">
                        <a:solidFill>
                          <a:srgbClr val="102B3F"/>
                        </a:solidFill>
                        <a:latin typeface="Arial" panose="020B0604020202020204" pitchFamily="34" charset="0"/>
                      </a:endParaRP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extLst>
                  <a:ext uri="{0D108BD9-81ED-4DB2-BD59-A6C34878D82A}">
                    <a16:rowId xmlns:a16="http://schemas.microsoft.com/office/drawing/2014/main" val="474662011"/>
                  </a:ext>
                </a:extLst>
              </a:tr>
            </a:tbl>
          </a:graphicData>
        </a:graphic>
      </p:graphicFrame>
    </p:spTree>
    <p:extLst>
      <p:ext uri="{BB962C8B-B14F-4D97-AF65-F5344CB8AC3E}">
        <p14:creationId xmlns:p14="http://schemas.microsoft.com/office/powerpoint/2010/main" val="39590591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02B3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4258E4B-D645-42EC-78D4-4F495078C5E0}"/>
              </a:ext>
            </a:extLst>
          </p:cNvPr>
          <p:cNvSpPr txBox="1"/>
          <p:nvPr/>
        </p:nvSpPr>
        <p:spPr>
          <a:xfrm>
            <a:off x="609600" y="482599"/>
            <a:ext cx="10972800" cy="863600"/>
          </a:xfrm>
          <a:prstGeom prst="rect">
            <a:avLst/>
          </a:prstGeom>
          <a:noFill/>
        </p:spPr>
        <p:txBody>
          <a:bodyPr vert="horz" wrap="square" lIns="0" tIns="0" rIns="0" bIns="0" rtlCol="0">
            <a:noAutofit/>
          </a:bodyPr>
          <a:lstStyle/>
          <a:p>
            <a:r>
              <a:rPr lang="en-IN" sz="3200" b="1">
                <a:solidFill>
                  <a:srgbClr val="F5F3ED"/>
                </a:solidFill>
                <a:latin typeface="Arial" panose="020B0604020202020204" pitchFamily="34" charset="0"/>
              </a:rPr>
              <a:t>Simulated payment lifecycle</a:t>
            </a:r>
          </a:p>
        </p:txBody>
      </p:sp>
      <p:sp>
        <p:nvSpPr>
          <p:cNvPr id="3" name="TextBox 2">
            <a:extLst>
              <a:ext uri="{FF2B5EF4-FFF2-40B4-BE49-F238E27FC236}">
                <a16:creationId xmlns:a16="http://schemas.microsoft.com/office/drawing/2014/main" id="{11AC526C-301E-7767-18CD-C677C197B7AA}"/>
              </a:ext>
            </a:extLst>
          </p:cNvPr>
          <p:cNvSpPr txBox="1"/>
          <p:nvPr/>
        </p:nvSpPr>
        <p:spPr>
          <a:xfrm>
            <a:off x="11049000" y="6388100"/>
            <a:ext cx="508000" cy="254000"/>
          </a:xfrm>
          <a:prstGeom prst="rect">
            <a:avLst/>
          </a:prstGeom>
          <a:noFill/>
        </p:spPr>
        <p:txBody>
          <a:bodyPr vert="horz" wrap="square" lIns="0" tIns="0" rIns="0" bIns="0" rtlCol="0">
            <a:noAutofit/>
          </a:bodyPr>
          <a:lstStyle/>
          <a:p>
            <a:r>
              <a:rPr lang="en-IN" sz="1100">
                <a:solidFill>
                  <a:srgbClr val="6BD4C3"/>
                </a:solidFill>
                <a:latin typeface="Arial" panose="020B0604020202020204" pitchFamily="34" charset="0"/>
              </a:rPr>
              <a:t>04</a:t>
            </a:r>
          </a:p>
        </p:txBody>
      </p:sp>
      <p:sp>
        <p:nvSpPr>
          <p:cNvPr id="4" name="TextBox 3">
            <a:extLst>
              <a:ext uri="{FF2B5EF4-FFF2-40B4-BE49-F238E27FC236}">
                <a16:creationId xmlns:a16="http://schemas.microsoft.com/office/drawing/2014/main" id="{4817F6AC-B1C8-80D0-B02D-79FDD1BC639E}"/>
              </a:ext>
            </a:extLst>
          </p:cNvPr>
          <p:cNvSpPr txBox="1"/>
          <p:nvPr/>
        </p:nvSpPr>
        <p:spPr>
          <a:xfrm>
            <a:off x="609600" y="1714499"/>
            <a:ext cx="2895600" cy="736600"/>
          </a:xfrm>
          <a:prstGeom prst="rect">
            <a:avLst/>
          </a:prstGeom>
          <a:noFill/>
        </p:spPr>
        <p:txBody>
          <a:bodyPr vert="horz" wrap="square" lIns="0" tIns="0" rIns="0" bIns="0" rtlCol="0">
            <a:noAutofit/>
          </a:bodyPr>
          <a:lstStyle/>
          <a:p>
            <a:r>
              <a:rPr lang="en-IN" sz="2100" b="1">
                <a:solidFill>
                  <a:srgbClr val="6BD4C3"/>
                </a:solidFill>
                <a:latin typeface="Arial" panose="020B0604020202020204" pitchFamily="34" charset="0"/>
              </a:rPr>
              <a:t>01  Authenticate</a:t>
            </a:r>
          </a:p>
        </p:txBody>
      </p:sp>
      <p:sp>
        <p:nvSpPr>
          <p:cNvPr id="5" name="TextBox 4">
            <a:extLst>
              <a:ext uri="{FF2B5EF4-FFF2-40B4-BE49-F238E27FC236}">
                <a16:creationId xmlns:a16="http://schemas.microsoft.com/office/drawing/2014/main" id="{4516A739-E4D7-6FE5-CD46-DDE27B427FD9}"/>
              </a:ext>
            </a:extLst>
          </p:cNvPr>
          <p:cNvSpPr txBox="1"/>
          <p:nvPr/>
        </p:nvSpPr>
        <p:spPr>
          <a:xfrm>
            <a:off x="3873500" y="1714499"/>
            <a:ext cx="7581900" cy="914400"/>
          </a:xfrm>
          <a:prstGeom prst="rect">
            <a:avLst/>
          </a:prstGeom>
          <a:noFill/>
        </p:spPr>
        <p:txBody>
          <a:bodyPr vert="horz" wrap="square" lIns="0" tIns="0" rIns="0" bIns="0" rtlCol="0">
            <a:noAutofit/>
          </a:bodyPr>
          <a:lstStyle/>
          <a:p>
            <a:r>
              <a:rPr lang="en-US" sz="2100">
                <a:solidFill>
                  <a:srgbClr val="F5F3ED"/>
                </a:solidFill>
                <a:latin typeface="Arial" panose="020B0604020202020204" pitchFamily="34" charset="0"/>
              </a:rPr>
              <a:t>The API checks the admin username and generated password.</a:t>
            </a:r>
            <a:endParaRPr lang="en-IN" sz="2100">
              <a:solidFill>
                <a:srgbClr val="F5F3ED"/>
              </a:solidFill>
              <a:latin typeface="Arial" panose="020B0604020202020204" pitchFamily="34" charset="0"/>
            </a:endParaRPr>
          </a:p>
        </p:txBody>
      </p:sp>
      <p:sp>
        <p:nvSpPr>
          <p:cNvPr id="6" name="TextBox 5">
            <a:extLst>
              <a:ext uri="{FF2B5EF4-FFF2-40B4-BE49-F238E27FC236}">
                <a16:creationId xmlns:a16="http://schemas.microsoft.com/office/drawing/2014/main" id="{E18D50C7-9899-870E-86D0-DE8EC1E35B77}"/>
              </a:ext>
            </a:extLst>
          </p:cNvPr>
          <p:cNvSpPr txBox="1"/>
          <p:nvPr/>
        </p:nvSpPr>
        <p:spPr>
          <a:xfrm>
            <a:off x="609600" y="2832099"/>
            <a:ext cx="2895600" cy="736600"/>
          </a:xfrm>
          <a:prstGeom prst="rect">
            <a:avLst/>
          </a:prstGeom>
          <a:noFill/>
        </p:spPr>
        <p:txBody>
          <a:bodyPr vert="horz" wrap="square" lIns="0" tIns="0" rIns="0" bIns="0" rtlCol="0">
            <a:noAutofit/>
          </a:bodyPr>
          <a:lstStyle/>
          <a:p>
            <a:r>
              <a:rPr lang="en-IN" sz="2100" b="1">
                <a:solidFill>
                  <a:srgbClr val="6BD4C3"/>
                </a:solidFill>
                <a:latin typeface="Arial" panose="020B0604020202020204" pitchFamily="34" charset="0"/>
              </a:rPr>
              <a:t>02  Validate</a:t>
            </a:r>
          </a:p>
        </p:txBody>
      </p:sp>
      <p:sp>
        <p:nvSpPr>
          <p:cNvPr id="7" name="TextBox 6">
            <a:extLst>
              <a:ext uri="{FF2B5EF4-FFF2-40B4-BE49-F238E27FC236}">
                <a16:creationId xmlns:a16="http://schemas.microsoft.com/office/drawing/2014/main" id="{D95280E5-F4B4-38F0-5172-674E48C69444}"/>
              </a:ext>
            </a:extLst>
          </p:cNvPr>
          <p:cNvSpPr txBox="1"/>
          <p:nvPr/>
        </p:nvSpPr>
        <p:spPr>
          <a:xfrm>
            <a:off x="3873500" y="2832099"/>
            <a:ext cx="7581900" cy="914400"/>
          </a:xfrm>
          <a:prstGeom prst="rect">
            <a:avLst/>
          </a:prstGeom>
          <a:noFill/>
        </p:spPr>
        <p:txBody>
          <a:bodyPr vert="horz" wrap="square" lIns="0" tIns="0" rIns="0" bIns="0" rtlCol="0">
            <a:noAutofit/>
          </a:bodyPr>
          <a:lstStyle/>
          <a:p>
            <a:r>
              <a:rPr lang="en-US" sz="2100">
                <a:solidFill>
                  <a:srgbClr val="F5F3ED"/>
                </a:solidFill>
                <a:latin typeface="Arial" panose="020B0604020202020204" pitchFamily="34" charset="0"/>
              </a:rPr>
              <a:t>Pydantic accepts customer ID, positive amount, and last four digits.</a:t>
            </a:r>
            <a:endParaRPr lang="en-IN" sz="2100">
              <a:solidFill>
                <a:srgbClr val="F5F3ED"/>
              </a:solidFill>
              <a:latin typeface="Arial" panose="020B0604020202020204" pitchFamily="34" charset="0"/>
            </a:endParaRPr>
          </a:p>
        </p:txBody>
      </p:sp>
      <p:sp>
        <p:nvSpPr>
          <p:cNvPr id="8" name="TextBox 7">
            <a:extLst>
              <a:ext uri="{FF2B5EF4-FFF2-40B4-BE49-F238E27FC236}">
                <a16:creationId xmlns:a16="http://schemas.microsoft.com/office/drawing/2014/main" id="{6729724D-1380-30FE-5CBC-56BF57E3F007}"/>
              </a:ext>
            </a:extLst>
          </p:cNvPr>
          <p:cNvSpPr txBox="1"/>
          <p:nvPr/>
        </p:nvSpPr>
        <p:spPr>
          <a:xfrm>
            <a:off x="609600" y="3949699"/>
            <a:ext cx="2895600" cy="736600"/>
          </a:xfrm>
          <a:prstGeom prst="rect">
            <a:avLst/>
          </a:prstGeom>
          <a:noFill/>
        </p:spPr>
        <p:txBody>
          <a:bodyPr vert="horz" wrap="square" lIns="0" tIns="0" rIns="0" bIns="0" rtlCol="0">
            <a:noAutofit/>
          </a:bodyPr>
          <a:lstStyle/>
          <a:p>
            <a:r>
              <a:rPr lang="en-IN" sz="2100" b="1">
                <a:solidFill>
                  <a:srgbClr val="6BD4C3"/>
                </a:solidFill>
                <a:latin typeface="Arial" panose="020B0604020202020204" pitchFamily="34" charset="0"/>
              </a:rPr>
              <a:t>03  Record</a:t>
            </a:r>
          </a:p>
        </p:txBody>
      </p:sp>
      <p:sp>
        <p:nvSpPr>
          <p:cNvPr id="9" name="TextBox 8">
            <a:extLst>
              <a:ext uri="{FF2B5EF4-FFF2-40B4-BE49-F238E27FC236}">
                <a16:creationId xmlns:a16="http://schemas.microsoft.com/office/drawing/2014/main" id="{FEB793FF-2519-4BC4-A6E8-1878C7A3EE4E}"/>
              </a:ext>
            </a:extLst>
          </p:cNvPr>
          <p:cNvSpPr txBox="1"/>
          <p:nvPr/>
        </p:nvSpPr>
        <p:spPr>
          <a:xfrm>
            <a:off x="3873500" y="3949699"/>
            <a:ext cx="7581900" cy="914400"/>
          </a:xfrm>
          <a:prstGeom prst="rect">
            <a:avLst/>
          </a:prstGeom>
          <a:noFill/>
        </p:spPr>
        <p:txBody>
          <a:bodyPr vert="horz" wrap="square" lIns="0" tIns="0" rIns="0" bIns="0" rtlCol="0">
            <a:noAutofit/>
          </a:bodyPr>
          <a:lstStyle/>
          <a:p>
            <a:r>
              <a:rPr lang="en-US" sz="2100">
                <a:solidFill>
                  <a:srgbClr val="F5F3ED"/>
                </a:solidFill>
                <a:latin typeface="Arial" panose="020B0604020202020204" pitchFamily="34" charset="0"/>
              </a:rPr>
              <a:t>SQLite stores a demo token and payment. The same transaction adds an audit event.</a:t>
            </a:r>
            <a:endParaRPr lang="en-IN" sz="2100">
              <a:solidFill>
                <a:srgbClr val="F5F3ED"/>
              </a:solidFill>
              <a:latin typeface="Arial" panose="020B0604020202020204" pitchFamily="34" charset="0"/>
            </a:endParaRPr>
          </a:p>
        </p:txBody>
      </p:sp>
      <p:sp>
        <p:nvSpPr>
          <p:cNvPr id="10" name="TextBox 9">
            <a:extLst>
              <a:ext uri="{FF2B5EF4-FFF2-40B4-BE49-F238E27FC236}">
                <a16:creationId xmlns:a16="http://schemas.microsoft.com/office/drawing/2014/main" id="{E291C2E8-D67B-D6E8-AB47-D32754D75E27}"/>
              </a:ext>
            </a:extLst>
          </p:cNvPr>
          <p:cNvSpPr txBox="1"/>
          <p:nvPr/>
        </p:nvSpPr>
        <p:spPr>
          <a:xfrm>
            <a:off x="609600" y="5181599"/>
            <a:ext cx="2895600" cy="736600"/>
          </a:xfrm>
          <a:prstGeom prst="rect">
            <a:avLst/>
          </a:prstGeom>
          <a:noFill/>
        </p:spPr>
        <p:txBody>
          <a:bodyPr vert="horz" wrap="square" lIns="0" tIns="0" rIns="0" bIns="0" rtlCol="0">
            <a:noAutofit/>
          </a:bodyPr>
          <a:lstStyle/>
          <a:p>
            <a:r>
              <a:rPr lang="en-IN" sz="2100" b="1">
                <a:solidFill>
                  <a:srgbClr val="6BD4C3"/>
                </a:solidFill>
                <a:latin typeface="Arial" panose="020B0604020202020204" pitchFamily="34" charset="0"/>
              </a:rPr>
              <a:t>04  Sign</a:t>
            </a:r>
          </a:p>
        </p:txBody>
      </p:sp>
      <p:sp>
        <p:nvSpPr>
          <p:cNvPr id="11" name="TextBox 10">
            <a:extLst>
              <a:ext uri="{FF2B5EF4-FFF2-40B4-BE49-F238E27FC236}">
                <a16:creationId xmlns:a16="http://schemas.microsoft.com/office/drawing/2014/main" id="{2CDB0B16-76D7-CBFD-9C98-0766AB621F1F}"/>
              </a:ext>
            </a:extLst>
          </p:cNvPr>
          <p:cNvSpPr txBox="1"/>
          <p:nvPr/>
        </p:nvSpPr>
        <p:spPr>
          <a:xfrm>
            <a:off x="3873500" y="5181599"/>
            <a:ext cx="7581900" cy="914400"/>
          </a:xfrm>
          <a:prstGeom prst="rect">
            <a:avLst/>
          </a:prstGeom>
          <a:noFill/>
        </p:spPr>
        <p:txBody>
          <a:bodyPr vert="horz" wrap="square" lIns="0" tIns="0" rIns="0" bIns="0" rtlCol="0">
            <a:noAutofit/>
          </a:bodyPr>
          <a:lstStyle/>
          <a:p>
            <a:r>
              <a:rPr lang="en-US" sz="2100">
                <a:solidFill>
                  <a:srgbClr val="F5F3ED"/>
                </a:solidFill>
                <a:latin typeface="Arial" panose="020B0604020202020204" pitchFamily="34" charset="0"/>
              </a:rPr>
              <a:t>The server signs receipt data with its RSA private key.</a:t>
            </a:r>
            <a:endParaRPr lang="en-IN" sz="2100">
              <a:solidFill>
                <a:srgbClr val="F5F3ED"/>
              </a:solidFill>
              <a:latin typeface="Arial" panose="020B0604020202020204" pitchFamily="34" charset="0"/>
            </a:endParaRPr>
          </a:p>
        </p:txBody>
      </p:sp>
    </p:spTree>
    <p:extLst>
      <p:ext uri="{BB962C8B-B14F-4D97-AF65-F5344CB8AC3E}">
        <p14:creationId xmlns:p14="http://schemas.microsoft.com/office/powerpoint/2010/main" val="19716225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DF545DC-94F0-3D72-E94C-F2E1C7DB9390}"/>
              </a:ext>
            </a:extLst>
          </p:cNvPr>
          <p:cNvSpPr txBox="1"/>
          <p:nvPr/>
        </p:nvSpPr>
        <p:spPr>
          <a:xfrm>
            <a:off x="609600" y="482599"/>
            <a:ext cx="10972800" cy="863600"/>
          </a:xfrm>
          <a:prstGeom prst="rect">
            <a:avLst/>
          </a:prstGeom>
          <a:noFill/>
        </p:spPr>
        <p:txBody>
          <a:bodyPr vert="horz" wrap="square" lIns="0" tIns="0" rIns="0" bIns="0" rtlCol="0">
            <a:noAutofit/>
          </a:bodyPr>
          <a:lstStyle/>
          <a:p>
            <a:r>
              <a:rPr lang="en-US" sz="3200" b="1">
                <a:solidFill>
                  <a:srgbClr val="102B3F"/>
                </a:solidFill>
                <a:latin typeface="Arial" panose="020B0604020202020204" pitchFamily="34" charset="0"/>
              </a:rPr>
              <a:t>Email encryption and tamper detection</a:t>
            </a:r>
            <a:endParaRPr lang="en-IN" sz="3200" b="1">
              <a:solidFill>
                <a:srgbClr val="102B3F"/>
              </a:solidFill>
              <a:latin typeface="Arial" panose="020B0604020202020204" pitchFamily="34" charset="0"/>
            </a:endParaRPr>
          </a:p>
        </p:txBody>
      </p:sp>
      <p:sp>
        <p:nvSpPr>
          <p:cNvPr id="3" name="TextBox 2">
            <a:extLst>
              <a:ext uri="{FF2B5EF4-FFF2-40B4-BE49-F238E27FC236}">
                <a16:creationId xmlns:a16="http://schemas.microsoft.com/office/drawing/2014/main" id="{D96E8DC7-4DBD-BE09-D101-F8E32D448CDB}"/>
              </a:ext>
            </a:extLst>
          </p:cNvPr>
          <p:cNvSpPr txBox="1"/>
          <p:nvPr/>
        </p:nvSpPr>
        <p:spPr>
          <a:xfrm>
            <a:off x="11049000" y="6388100"/>
            <a:ext cx="508000" cy="254000"/>
          </a:xfrm>
          <a:prstGeom prst="rect">
            <a:avLst/>
          </a:prstGeom>
          <a:noFill/>
        </p:spPr>
        <p:txBody>
          <a:bodyPr vert="horz" wrap="square" lIns="0" tIns="0" rIns="0" bIns="0" rtlCol="0">
            <a:noAutofit/>
          </a:bodyPr>
          <a:lstStyle/>
          <a:p>
            <a:r>
              <a:rPr lang="en-IN" sz="1100">
                <a:solidFill>
                  <a:srgbClr val="526674"/>
                </a:solidFill>
                <a:latin typeface="Arial" panose="020B0604020202020204" pitchFamily="34" charset="0"/>
              </a:rPr>
              <a:t>05</a:t>
            </a:r>
          </a:p>
        </p:txBody>
      </p:sp>
      <p:sp>
        <p:nvSpPr>
          <p:cNvPr id="4" name="TextBox 3">
            <a:extLst>
              <a:ext uri="{FF2B5EF4-FFF2-40B4-BE49-F238E27FC236}">
                <a16:creationId xmlns:a16="http://schemas.microsoft.com/office/drawing/2014/main" id="{269B1DAE-C7A2-BF93-F478-F70B8C418054}"/>
              </a:ext>
            </a:extLst>
          </p:cNvPr>
          <p:cNvSpPr txBox="1"/>
          <p:nvPr/>
        </p:nvSpPr>
        <p:spPr>
          <a:xfrm>
            <a:off x="609600" y="1650999"/>
            <a:ext cx="10972800" cy="762000"/>
          </a:xfrm>
          <a:prstGeom prst="rect">
            <a:avLst/>
          </a:prstGeom>
          <a:noFill/>
        </p:spPr>
        <p:txBody>
          <a:bodyPr vert="horz" wrap="square" lIns="0" tIns="0" rIns="0" bIns="0" rtlCol="0">
            <a:noAutofit/>
          </a:bodyPr>
          <a:lstStyle/>
          <a:p>
            <a:r>
              <a:rPr lang="en-IN" sz="4200" b="1">
                <a:solidFill>
                  <a:srgbClr val="087F83"/>
                </a:solidFill>
                <a:latin typeface="Arial" panose="020B0604020202020204" pitchFamily="34" charset="0"/>
              </a:rPr>
              <a:t>AES-256-GCM</a:t>
            </a:r>
          </a:p>
        </p:txBody>
      </p:sp>
      <p:sp>
        <p:nvSpPr>
          <p:cNvPr id="5" name="TextBox 4">
            <a:extLst>
              <a:ext uri="{FF2B5EF4-FFF2-40B4-BE49-F238E27FC236}">
                <a16:creationId xmlns:a16="http://schemas.microsoft.com/office/drawing/2014/main" id="{836EC060-EE97-E17A-F435-DB049B8795FE}"/>
              </a:ext>
            </a:extLst>
          </p:cNvPr>
          <p:cNvSpPr txBox="1"/>
          <p:nvPr/>
        </p:nvSpPr>
        <p:spPr>
          <a:xfrm>
            <a:off x="609600" y="2933699"/>
            <a:ext cx="2895600" cy="736600"/>
          </a:xfrm>
          <a:prstGeom prst="rect">
            <a:avLst/>
          </a:prstGeom>
          <a:noFill/>
        </p:spPr>
        <p:txBody>
          <a:bodyPr vert="horz" wrap="square" lIns="0" tIns="0" rIns="0" bIns="0" rtlCol="0">
            <a:noAutofit/>
          </a:bodyPr>
          <a:lstStyle/>
          <a:p>
            <a:r>
              <a:rPr lang="en-IN" sz="2100" b="1">
                <a:solidFill>
                  <a:srgbClr val="087F83"/>
                </a:solidFill>
                <a:latin typeface="Arial" panose="020B0604020202020204" pitchFamily="34" charset="0"/>
              </a:rPr>
              <a:t>Encryption inputs</a:t>
            </a:r>
          </a:p>
        </p:txBody>
      </p:sp>
      <p:sp>
        <p:nvSpPr>
          <p:cNvPr id="6" name="TextBox 5">
            <a:extLst>
              <a:ext uri="{FF2B5EF4-FFF2-40B4-BE49-F238E27FC236}">
                <a16:creationId xmlns:a16="http://schemas.microsoft.com/office/drawing/2014/main" id="{973D9A44-5007-E878-52CB-968967FD7D8A}"/>
              </a:ext>
            </a:extLst>
          </p:cNvPr>
          <p:cNvSpPr txBox="1"/>
          <p:nvPr/>
        </p:nvSpPr>
        <p:spPr>
          <a:xfrm>
            <a:off x="3873500" y="2933699"/>
            <a:ext cx="7581900" cy="914400"/>
          </a:xfrm>
          <a:prstGeom prst="rect">
            <a:avLst/>
          </a:prstGeom>
          <a:noFill/>
        </p:spPr>
        <p:txBody>
          <a:bodyPr vert="horz" wrap="square" lIns="0" tIns="0" rIns="0" bIns="0" rtlCol="0">
            <a:noAutofit/>
          </a:bodyPr>
          <a:lstStyle/>
          <a:p>
            <a:r>
              <a:rPr lang="en-US" sz="2100">
                <a:solidFill>
                  <a:srgbClr val="102B3F"/>
                </a:solidFill>
                <a:latin typeface="Arial" panose="020B0604020202020204" pitchFamily="34" charset="0"/>
              </a:rPr>
              <a:t>A 256-bit key, a random 96-bit nonce, and customer-email as authenticated context.</a:t>
            </a:r>
            <a:endParaRPr lang="en-IN" sz="2100">
              <a:solidFill>
                <a:srgbClr val="102B3F"/>
              </a:solidFill>
              <a:latin typeface="Arial" panose="020B0604020202020204" pitchFamily="34" charset="0"/>
            </a:endParaRPr>
          </a:p>
        </p:txBody>
      </p:sp>
      <p:sp>
        <p:nvSpPr>
          <p:cNvPr id="7" name="TextBox 6">
            <a:extLst>
              <a:ext uri="{FF2B5EF4-FFF2-40B4-BE49-F238E27FC236}">
                <a16:creationId xmlns:a16="http://schemas.microsoft.com/office/drawing/2014/main" id="{96BFEDAD-E3E1-08B2-17E6-6EB2194C03C3}"/>
              </a:ext>
            </a:extLst>
          </p:cNvPr>
          <p:cNvSpPr txBox="1"/>
          <p:nvPr/>
        </p:nvSpPr>
        <p:spPr>
          <a:xfrm>
            <a:off x="609600" y="4076699"/>
            <a:ext cx="2895600" cy="736600"/>
          </a:xfrm>
          <a:prstGeom prst="rect">
            <a:avLst/>
          </a:prstGeom>
          <a:noFill/>
        </p:spPr>
        <p:txBody>
          <a:bodyPr vert="horz" wrap="square" lIns="0" tIns="0" rIns="0" bIns="0" rtlCol="0">
            <a:noAutofit/>
          </a:bodyPr>
          <a:lstStyle/>
          <a:p>
            <a:r>
              <a:rPr lang="en-IN" sz="2100" b="1">
                <a:solidFill>
                  <a:srgbClr val="087F83"/>
                </a:solidFill>
                <a:latin typeface="Arial" panose="020B0604020202020204" pitchFamily="34" charset="0"/>
              </a:rPr>
              <a:t>Stored value</a:t>
            </a:r>
          </a:p>
        </p:txBody>
      </p:sp>
      <p:sp>
        <p:nvSpPr>
          <p:cNvPr id="8" name="TextBox 7">
            <a:extLst>
              <a:ext uri="{FF2B5EF4-FFF2-40B4-BE49-F238E27FC236}">
                <a16:creationId xmlns:a16="http://schemas.microsoft.com/office/drawing/2014/main" id="{123DFDD4-9172-3515-F77F-8FA9ED74A8B2}"/>
              </a:ext>
            </a:extLst>
          </p:cNvPr>
          <p:cNvSpPr txBox="1"/>
          <p:nvPr/>
        </p:nvSpPr>
        <p:spPr>
          <a:xfrm>
            <a:off x="3873500" y="4076699"/>
            <a:ext cx="7581900" cy="914400"/>
          </a:xfrm>
          <a:prstGeom prst="rect">
            <a:avLst/>
          </a:prstGeom>
          <a:noFill/>
        </p:spPr>
        <p:txBody>
          <a:bodyPr vert="horz" wrap="square" lIns="0" tIns="0" rIns="0" bIns="0" rtlCol="0">
            <a:noAutofit/>
          </a:bodyPr>
          <a:lstStyle/>
          <a:p>
            <a:r>
              <a:rPr lang="en-US" sz="2100">
                <a:solidFill>
                  <a:srgbClr val="102B3F"/>
                </a:solidFill>
                <a:latin typeface="Arial" panose="020B0604020202020204" pitchFamily="34" charset="0"/>
              </a:rPr>
              <a:t>Base64 encoding of the nonce, ciphertext, and 128-bit authentication tag.</a:t>
            </a:r>
            <a:endParaRPr lang="en-IN" sz="2100">
              <a:solidFill>
                <a:srgbClr val="102B3F"/>
              </a:solidFill>
              <a:latin typeface="Arial" panose="020B0604020202020204" pitchFamily="34" charset="0"/>
            </a:endParaRPr>
          </a:p>
        </p:txBody>
      </p:sp>
      <p:sp>
        <p:nvSpPr>
          <p:cNvPr id="9" name="TextBox 8">
            <a:extLst>
              <a:ext uri="{FF2B5EF4-FFF2-40B4-BE49-F238E27FC236}">
                <a16:creationId xmlns:a16="http://schemas.microsoft.com/office/drawing/2014/main" id="{4CFCA448-CA26-4261-57A1-FA0ED909BC20}"/>
              </a:ext>
            </a:extLst>
          </p:cNvPr>
          <p:cNvSpPr txBox="1"/>
          <p:nvPr/>
        </p:nvSpPr>
        <p:spPr>
          <a:xfrm>
            <a:off x="609600" y="5219699"/>
            <a:ext cx="2895600" cy="736600"/>
          </a:xfrm>
          <a:prstGeom prst="rect">
            <a:avLst/>
          </a:prstGeom>
          <a:noFill/>
        </p:spPr>
        <p:txBody>
          <a:bodyPr vert="horz" wrap="square" lIns="0" tIns="0" rIns="0" bIns="0" rtlCol="0">
            <a:noAutofit/>
          </a:bodyPr>
          <a:lstStyle/>
          <a:p>
            <a:r>
              <a:rPr lang="en-IN" sz="2100" b="1">
                <a:solidFill>
                  <a:srgbClr val="087F83"/>
                </a:solidFill>
                <a:latin typeface="Arial" panose="020B0604020202020204" pitchFamily="34" charset="0"/>
              </a:rPr>
              <a:t>Tamper experiment</a:t>
            </a:r>
          </a:p>
        </p:txBody>
      </p:sp>
      <p:sp>
        <p:nvSpPr>
          <p:cNvPr id="10" name="TextBox 9">
            <a:extLst>
              <a:ext uri="{FF2B5EF4-FFF2-40B4-BE49-F238E27FC236}">
                <a16:creationId xmlns:a16="http://schemas.microsoft.com/office/drawing/2014/main" id="{BC3F41C6-24DA-6DDC-50D0-3EC7E0251E81}"/>
              </a:ext>
            </a:extLst>
          </p:cNvPr>
          <p:cNvSpPr txBox="1"/>
          <p:nvPr/>
        </p:nvSpPr>
        <p:spPr>
          <a:xfrm>
            <a:off x="3873500" y="5219699"/>
            <a:ext cx="7581900" cy="914400"/>
          </a:xfrm>
          <a:prstGeom prst="rect">
            <a:avLst/>
          </a:prstGeom>
          <a:noFill/>
        </p:spPr>
        <p:txBody>
          <a:bodyPr vert="horz" wrap="square" lIns="0" tIns="0" rIns="0" bIns="0" rtlCol="0">
            <a:noAutofit/>
          </a:bodyPr>
          <a:lstStyle/>
          <a:p>
            <a:r>
              <a:rPr lang="en-US" sz="2100">
                <a:solidFill>
                  <a:srgbClr val="102B3F"/>
                </a:solidFill>
                <a:latin typeface="Arial" panose="020B0604020202020204" pitchFamily="34" charset="0"/>
              </a:rPr>
              <a:t>Flipping a bit causes tag verification to fail and blocks decryption.</a:t>
            </a:r>
            <a:endParaRPr lang="en-IN" sz="2100">
              <a:solidFill>
                <a:srgbClr val="102B3F"/>
              </a:solidFill>
              <a:latin typeface="Arial" panose="020B0604020202020204" pitchFamily="34" charset="0"/>
            </a:endParaRPr>
          </a:p>
        </p:txBody>
      </p:sp>
    </p:spTree>
    <p:extLst>
      <p:ext uri="{BB962C8B-B14F-4D97-AF65-F5344CB8AC3E}">
        <p14:creationId xmlns:p14="http://schemas.microsoft.com/office/powerpoint/2010/main" val="34448759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8DABC7E-53D2-1655-3DB3-92911BC930C0}"/>
              </a:ext>
            </a:extLst>
          </p:cNvPr>
          <p:cNvSpPr txBox="1"/>
          <p:nvPr/>
        </p:nvSpPr>
        <p:spPr>
          <a:xfrm>
            <a:off x="609600" y="482599"/>
            <a:ext cx="10972800" cy="863600"/>
          </a:xfrm>
          <a:prstGeom prst="rect">
            <a:avLst/>
          </a:prstGeom>
          <a:noFill/>
        </p:spPr>
        <p:txBody>
          <a:bodyPr vert="horz" wrap="square" lIns="0" tIns="0" rIns="0" bIns="0" rtlCol="0">
            <a:noAutofit/>
          </a:bodyPr>
          <a:lstStyle/>
          <a:p>
            <a:r>
              <a:rPr lang="en-IN" sz="3200" b="1">
                <a:solidFill>
                  <a:srgbClr val="102B3F"/>
                </a:solidFill>
                <a:latin typeface="Arial" panose="020B0604020202020204" pitchFamily="34" charset="0"/>
              </a:rPr>
              <a:t>PKI and secure communication</a:t>
            </a:r>
          </a:p>
        </p:txBody>
      </p:sp>
      <p:sp>
        <p:nvSpPr>
          <p:cNvPr id="3" name="TextBox 2">
            <a:extLst>
              <a:ext uri="{FF2B5EF4-FFF2-40B4-BE49-F238E27FC236}">
                <a16:creationId xmlns:a16="http://schemas.microsoft.com/office/drawing/2014/main" id="{2BF02262-0EA8-87B3-FF7D-EE07A98BCB11}"/>
              </a:ext>
            </a:extLst>
          </p:cNvPr>
          <p:cNvSpPr txBox="1"/>
          <p:nvPr/>
        </p:nvSpPr>
        <p:spPr>
          <a:xfrm>
            <a:off x="11049000" y="6388100"/>
            <a:ext cx="508000" cy="254000"/>
          </a:xfrm>
          <a:prstGeom prst="rect">
            <a:avLst/>
          </a:prstGeom>
          <a:noFill/>
        </p:spPr>
        <p:txBody>
          <a:bodyPr vert="horz" wrap="square" lIns="0" tIns="0" rIns="0" bIns="0" rtlCol="0">
            <a:noAutofit/>
          </a:bodyPr>
          <a:lstStyle/>
          <a:p>
            <a:r>
              <a:rPr lang="en-IN" sz="1100">
                <a:solidFill>
                  <a:srgbClr val="526674"/>
                </a:solidFill>
                <a:latin typeface="Arial" panose="020B0604020202020204" pitchFamily="34" charset="0"/>
              </a:rPr>
              <a:t>06</a:t>
            </a:r>
          </a:p>
        </p:txBody>
      </p:sp>
      <p:sp>
        <p:nvSpPr>
          <p:cNvPr id="4" name="TextBox 3">
            <a:extLst>
              <a:ext uri="{FF2B5EF4-FFF2-40B4-BE49-F238E27FC236}">
                <a16:creationId xmlns:a16="http://schemas.microsoft.com/office/drawing/2014/main" id="{324229CF-32AC-BC8D-FCE5-AD9591BF0C24}"/>
              </a:ext>
            </a:extLst>
          </p:cNvPr>
          <p:cNvSpPr txBox="1"/>
          <p:nvPr/>
        </p:nvSpPr>
        <p:spPr>
          <a:xfrm>
            <a:off x="609600" y="1625599"/>
            <a:ext cx="4953000" cy="457200"/>
          </a:xfrm>
          <a:prstGeom prst="rect">
            <a:avLst/>
          </a:prstGeom>
          <a:noFill/>
        </p:spPr>
        <p:txBody>
          <a:bodyPr vert="horz" wrap="square" lIns="0" tIns="0" rIns="0" bIns="0" rtlCol="0">
            <a:noAutofit/>
          </a:bodyPr>
          <a:lstStyle/>
          <a:p>
            <a:r>
              <a:rPr lang="en-IN" sz="2500" b="1">
                <a:solidFill>
                  <a:srgbClr val="087F83"/>
                </a:solidFill>
                <a:latin typeface="Arial" panose="020B0604020202020204" pitchFamily="34" charset="0"/>
              </a:rPr>
              <a:t>HTTPS transport</a:t>
            </a:r>
          </a:p>
        </p:txBody>
      </p:sp>
      <p:sp>
        <p:nvSpPr>
          <p:cNvPr id="5" name="TextBox 4">
            <a:extLst>
              <a:ext uri="{FF2B5EF4-FFF2-40B4-BE49-F238E27FC236}">
                <a16:creationId xmlns:a16="http://schemas.microsoft.com/office/drawing/2014/main" id="{248552B5-C0B0-9711-C2A1-19F0014DECA8}"/>
              </a:ext>
            </a:extLst>
          </p:cNvPr>
          <p:cNvSpPr txBox="1"/>
          <p:nvPr/>
        </p:nvSpPr>
        <p:spPr>
          <a:xfrm>
            <a:off x="609600" y="2336799"/>
            <a:ext cx="4953000" cy="2984500"/>
          </a:xfrm>
          <a:prstGeom prst="rect">
            <a:avLst/>
          </a:prstGeom>
          <a:noFill/>
        </p:spPr>
        <p:txBody>
          <a:bodyPr vert="horz" wrap="square" lIns="0" tIns="0" rIns="0" bIns="0" rtlCol="0">
            <a:noAutofit/>
          </a:bodyPr>
          <a:lstStyle/>
          <a:p>
            <a:r>
              <a:rPr lang="en-US" sz="2100">
                <a:solidFill>
                  <a:srgbClr val="102B3F"/>
                </a:solidFill>
                <a:latin typeface="Arial" panose="020B0604020202020204" pitchFamily="34" charset="0"/>
              </a:rPr>
              <a:t>A local CA signs an RSA-3072 server certificate for localhost and 127.0.0.1.</a:t>
            </a:r>
          </a:p>
          <a:p>
            <a:endParaRPr lang="en-US" sz="2100">
              <a:solidFill>
                <a:srgbClr val="102B3F"/>
              </a:solidFill>
              <a:latin typeface="Arial" panose="020B0604020202020204" pitchFamily="34" charset="0"/>
            </a:endParaRPr>
          </a:p>
          <a:p>
            <a:r>
              <a:rPr lang="en-US" sz="2100">
                <a:solidFill>
                  <a:srgbClr val="102B3F"/>
                </a:solidFill>
                <a:latin typeface="Arial" panose="020B0604020202020204" pitchFamily="34" charset="0"/>
              </a:rPr>
              <a:t>The server uses TLS. API requests over HTTP receive status 426.</a:t>
            </a:r>
            <a:endParaRPr lang="en-IN" sz="2100">
              <a:solidFill>
                <a:srgbClr val="102B3F"/>
              </a:solidFill>
              <a:latin typeface="Arial" panose="020B0604020202020204" pitchFamily="34" charset="0"/>
            </a:endParaRPr>
          </a:p>
        </p:txBody>
      </p:sp>
      <p:sp>
        <p:nvSpPr>
          <p:cNvPr id="6" name="TextBox 5">
            <a:extLst>
              <a:ext uri="{FF2B5EF4-FFF2-40B4-BE49-F238E27FC236}">
                <a16:creationId xmlns:a16="http://schemas.microsoft.com/office/drawing/2014/main" id="{FD4A67BF-1034-564B-95A9-2F283D83B856}"/>
              </a:ext>
            </a:extLst>
          </p:cNvPr>
          <p:cNvSpPr txBox="1"/>
          <p:nvPr/>
        </p:nvSpPr>
        <p:spPr>
          <a:xfrm>
            <a:off x="6477000" y="1625599"/>
            <a:ext cx="5105400" cy="457200"/>
          </a:xfrm>
          <a:prstGeom prst="rect">
            <a:avLst/>
          </a:prstGeom>
          <a:noFill/>
        </p:spPr>
        <p:txBody>
          <a:bodyPr vert="horz" wrap="square" lIns="0" tIns="0" rIns="0" bIns="0" rtlCol="0">
            <a:noAutofit/>
          </a:bodyPr>
          <a:lstStyle/>
          <a:p>
            <a:r>
              <a:rPr lang="en-IN" sz="2500" b="1">
                <a:solidFill>
                  <a:srgbClr val="087F83"/>
                </a:solidFill>
                <a:latin typeface="Arial" panose="020B0604020202020204" pitchFamily="34" charset="0"/>
              </a:rPr>
              <a:t>Interactive PKI lab</a:t>
            </a:r>
          </a:p>
        </p:txBody>
      </p:sp>
      <p:sp>
        <p:nvSpPr>
          <p:cNvPr id="7" name="TextBox 6">
            <a:extLst>
              <a:ext uri="{FF2B5EF4-FFF2-40B4-BE49-F238E27FC236}">
                <a16:creationId xmlns:a16="http://schemas.microsoft.com/office/drawing/2014/main" id="{31BCCA9C-E454-D8C9-6BD3-879B3C24277B}"/>
              </a:ext>
            </a:extLst>
          </p:cNvPr>
          <p:cNvSpPr txBox="1"/>
          <p:nvPr/>
        </p:nvSpPr>
        <p:spPr>
          <a:xfrm>
            <a:off x="6477000" y="2336799"/>
            <a:ext cx="5105400" cy="3111500"/>
          </a:xfrm>
          <a:prstGeom prst="rect">
            <a:avLst/>
          </a:prstGeom>
          <a:noFill/>
        </p:spPr>
        <p:txBody>
          <a:bodyPr vert="horz" wrap="square" lIns="0" tIns="0" rIns="0" bIns="0" rtlCol="0">
            <a:noAutofit/>
          </a:bodyPr>
          <a:lstStyle/>
          <a:p>
            <a:r>
              <a:rPr lang="en-US" sz="2100">
                <a:solidFill>
                  <a:srgbClr val="102B3F"/>
                </a:solidFill>
                <a:latin typeface="Arial" panose="020B0604020202020204" pitchFamily="34" charset="0"/>
              </a:rPr>
              <a:t>1  Verify the certificate signature</a:t>
            </a:r>
          </a:p>
          <a:p>
            <a:r>
              <a:rPr lang="en-US" sz="2100">
                <a:solidFill>
                  <a:srgbClr val="102B3F"/>
                </a:solidFill>
                <a:latin typeface="Arial" panose="020B0604020202020204" pitchFamily="34" charset="0"/>
              </a:rPr>
              <a:t>2  Wrap an AES key with RSA-OAEP</a:t>
            </a:r>
          </a:p>
          <a:p>
            <a:r>
              <a:rPr lang="en-US" sz="2100">
                <a:solidFill>
                  <a:srgbClr val="102B3F"/>
                </a:solidFill>
                <a:latin typeface="Arial" panose="020B0604020202020204" pitchFamily="34" charset="0"/>
              </a:rPr>
              <a:t>3  Encrypt a message with AES-GCM</a:t>
            </a:r>
          </a:p>
          <a:p>
            <a:r>
              <a:rPr lang="en-US" sz="2100">
                <a:solidFill>
                  <a:srgbClr val="102B3F"/>
                </a:solidFill>
                <a:latin typeface="Arial" panose="020B0604020202020204" pitchFamily="34" charset="0"/>
              </a:rPr>
              <a:t>4  Unwrap the key and decrypt</a:t>
            </a:r>
          </a:p>
          <a:p>
            <a:r>
              <a:rPr lang="en-US" sz="2100">
                <a:solidFill>
                  <a:srgbClr val="102B3F"/>
                </a:solidFill>
                <a:latin typeface="Arial" panose="020B0604020202020204" pitchFamily="34" charset="0"/>
              </a:rPr>
              <a:t>5  Sign and verify a receipt</a:t>
            </a:r>
            <a:endParaRPr lang="en-IN" sz="2100">
              <a:solidFill>
                <a:srgbClr val="102B3F"/>
              </a:solidFill>
              <a:latin typeface="Arial" panose="020B0604020202020204" pitchFamily="34" charset="0"/>
            </a:endParaRPr>
          </a:p>
        </p:txBody>
      </p:sp>
      <p:sp>
        <p:nvSpPr>
          <p:cNvPr id="8" name="TextBox 7">
            <a:extLst>
              <a:ext uri="{FF2B5EF4-FFF2-40B4-BE49-F238E27FC236}">
                <a16:creationId xmlns:a16="http://schemas.microsoft.com/office/drawing/2014/main" id="{056935D4-3AD5-B5DB-6B7E-CF60B0DEB5BD}"/>
              </a:ext>
            </a:extLst>
          </p:cNvPr>
          <p:cNvSpPr txBox="1"/>
          <p:nvPr/>
        </p:nvSpPr>
        <p:spPr>
          <a:xfrm>
            <a:off x="609600" y="5778499"/>
            <a:ext cx="10972800" cy="457200"/>
          </a:xfrm>
          <a:prstGeom prst="rect">
            <a:avLst/>
          </a:prstGeom>
          <a:noFill/>
        </p:spPr>
        <p:txBody>
          <a:bodyPr vert="horz" wrap="square" lIns="0" tIns="0" rIns="0" bIns="0" rtlCol="0">
            <a:noAutofit/>
          </a:bodyPr>
          <a:lstStyle/>
          <a:p>
            <a:r>
              <a:rPr lang="en-US" sz="1700">
                <a:solidFill>
                  <a:srgbClr val="526674"/>
                </a:solidFill>
                <a:latin typeface="Arial" panose="020B0604020202020204" pitchFamily="34" charset="0"/>
              </a:rPr>
              <a:t>The PKI lab is an application demonstration, separate from the actual TLS handshake.</a:t>
            </a:r>
            <a:endParaRPr lang="en-IN" sz="1700">
              <a:solidFill>
                <a:srgbClr val="526674"/>
              </a:solidFill>
              <a:latin typeface="Arial" panose="020B0604020202020204" pitchFamily="34" charset="0"/>
            </a:endParaRPr>
          </a:p>
        </p:txBody>
      </p:sp>
    </p:spTree>
    <p:extLst>
      <p:ext uri="{BB962C8B-B14F-4D97-AF65-F5344CB8AC3E}">
        <p14:creationId xmlns:p14="http://schemas.microsoft.com/office/powerpoint/2010/main" val="15553810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4CA7CB9-D3B2-F607-DD89-4D12277B302C}"/>
              </a:ext>
            </a:extLst>
          </p:cNvPr>
          <p:cNvSpPr txBox="1"/>
          <p:nvPr/>
        </p:nvSpPr>
        <p:spPr>
          <a:xfrm>
            <a:off x="609600" y="482599"/>
            <a:ext cx="10972800" cy="863600"/>
          </a:xfrm>
          <a:prstGeom prst="rect">
            <a:avLst/>
          </a:prstGeom>
          <a:noFill/>
        </p:spPr>
        <p:txBody>
          <a:bodyPr vert="horz" wrap="square" lIns="0" tIns="0" rIns="0" bIns="0" rtlCol="0">
            <a:noAutofit/>
          </a:bodyPr>
          <a:lstStyle/>
          <a:p>
            <a:r>
              <a:rPr lang="en-US" sz="3200" b="1">
                <a:solidFill>
                  <a:srgbClr val="102B3F"/>
                </a:solidFill>
                <a:latin typeface="Arial" panose="020B0604020202020204" pitchFamily="34" charset="0"/>
              </a:rPr>
              <a:t>Access control and input validation</a:t>
            </a:r>
            <a:endParaRPr lang="en-IN" sz="3200" b="1">
              <a:solidFill>
                <a:srgbClr val="102B3F"/>
              </a:solidFill>
              <a:latin typeface="Arial" panose="020B0604020202020204" pitchFamily="34" charset="0"/>
            </a:endParaRPr>
          </a:p>
        </p:txBody>
      </p:sp>
      <p:sp>
        <p:nvSpPr>
          <p:cNvPr id="3" name="TextBox 2">
            <a:extLst>
              <a:ext uri="{FF2B5EF4-FFF2-40B4-BE49-F238E27FC236}">
                <a16:creationId xmlns:a16="http://schemas.microsoft.com/office/drawing/2014/main" id="{6ED8E3A8-B70C-B777-93BE-D657C52D6F47}"/>
              </a:ext>
            </a:extLst>
          </p:cNvPr>
          <p:cNvSpPr txBox="1"/>
          <p:nvPr/>
        </p:nvSpPr>
        <p:spPr>
          <a:xfrm>
            <a:off x="11049000" y="6388100"/>
            <a:ext cx="508000" cy="254000"/>
          </a:xfrm>
          <a:prstGeom prst="rect">
            <a:avLst/>
          </a:prstGeom>
          <a:noFill/>
        </p:spPr>
        <p:txBody>
          <a:bodyPr vert="horz" wrap="square" lIns="0" tIns="0" rIns="0" bIns="0" rtlCol="0">
            <a:noAutofit/>
          </a:bodyPr>
          <a:lstStyle/>
          <a:p>
            <a:r>
              <a:rPr lang="en-IN" sz="1100">
                <a:solidFill>
                  <a:srgbClr val="526674"/>
                </a:solidFill>
                <a:latin typeface="Arial" panose="020B0604020202020204" pitchFamily="34" charset="0"/>
              </a:rPr>
              <a:t>07</a:t>
            </a:r>
          </a:p>
        </p:txBody>
      </p:sp>
      <p:sp>
        <p:nvSpPr>
          <p:cNvPr id="4" name="TextBox 3">
            <a:extLst>
              <a:ext uri="{FF2B5EF4-FFF2-40B4-BE49-F238E27FC236}">
                <a16:creationId xmlns:a16="http://schemas.microsoft.com/office/drawing/2014/main" id="{A4DCB3A9-4E97-C566-2A97-1B348F1899E4}"/>
              </a:ext>
            </a:extLst>
          </p:cNvPr>
          <p:cNvSpPr txBox="1"/>
          <p:nvPr/>
        </p:nvSpPr>
        <p:spPr>
          <a:xfrm>
            <a:off x="609600" y="1714499"/>
            <a:ext cx="2895600" cy="736600"/>
          </a:xfrm>
          <a:prstGeom prst="rect">
            <a:avLst/>
          </a:prstGeom>
          <a:noFill/>
        </p:spPr>
        <p:txBody>
          <a:bodyPr vert="horz" wrap="square" lIns="0" tIns="0" rIns="0" bIns="0" rtlCol="0">
            <a:noAutofit/>
          </a:bodyPr>
          <a:lstStyle/>
          <a:p>
            <a:r>
              <a:rPr lang="en-IN" sz="2100" b="1">
                <a:solidFill>
                  <a:srgbClr val="087F83"/>
                </a:solidFill>
                <a:latin typeface="Arial" panose="020B0604020202020204" pitchFamily="34" charset="0"/>
              </a:rPr>
              <a:t>Admin access</a:t>
            </a:r>
          </a:p>
        </p:txBody>
      </p:sp>
      <p:sp>
        <p:nvSpPr>
          <p:cNvPr id="5" name="TextBox 4">
            <a:extLst>
              <a:ext uri="{FF2B5EF4-FFF2-40B4-BE49-F238E27FC236}">
                <a16:creationId xmlns:a16="http://schemas.microsoft.com/office/drawing/2014/main" id="{82184449-A74B-B59F-16FC-401AD3E9FD88}"/>
              </a:ext>
            </a:extLst>
          </p:cNvPr>
          <p:cNvSpPr txBox="1"/>
          <p:nvPr/>
        </p:nvSpPr>
        <p:spPr>
          <a:xfrm>
            <a:off x="3873500" y="1714499"/>
            <a:ext cx="7581900" cy="914400"/>
          </a:xfrm>
          <a:prstGeom prst="rect">
            <a:avLst/>
          </a:prstGeom>
          <a:noFill/>
        </p:spPr>
        <p:txBody>
          <a:bodyPr vert="horz" wrap="square" lIns="0" tIns="0" rIns="0" bIns="0" rtlCol="0">
            <a:noAutofit/>
          </a:bodyPr>
          <a:lstStyle/>
          <a:p>
            <a:r>
              <a:rPr lang="en-US" sz="2100">
                <a:solidFill>
                  <a:srgbClr val="102B3F"/>
                </a:solidFill>
                <a:latin typeface="Arial" panose="020B0604020202020204" pitchFamily="34" charset="0"/>
              </a:rPr>
              <a:t>HTTP Basic authentication protects the application APIs over HTTPS.</a:t>
            </a:r>
            <a:endParaRPr lang="en-IN" sz="2100">
              <a:solidFill>
                <a:srgbClr val="102B3F"/>
              </a:solidFill>
              <a:latin typeface="Arial" panose="020B0604020202020204" pitchFamily="34" charset="0"/>
            </a:endParaRPr>
          </a:p>
        </p:txBody>
      </p:sp>
      <p:sp>
        <p:nvSpPr>
          <p:cNvPr id="6" name="TextBox 5">
            <a:extLst>
              <a:ext uri="{FF2B5EF4-FFF2-40B4-BE49-F238E27FC236}">
                <a16:creationId xmlns:a16="http://schemas.microsoft.com/office/drawing/2014/main" id="{1184BADC-EA6A-7D42-2BCE-FA496318F50B}"/>
              </a:ext>
            </a:extLst>
          </p:cNvPr>
          <p:cNvSpPr txBox="1"/>
          <p:nvPr/>
        </p:nvSpPr>
        <p:spPr>
          <a:xfrm>
            <a:off x="609600" y="2857499"/>
            <a:ext cx="2895600" cy="736600"/>
          </a:xfrm>
          <a:prstGeom prst="rect">
            <a:avLst/>
          </a:prstGeom>
          <a:noFill/>
        </p:spPr>
        <p:txBody>
          <a:bodyPr vert="horz" wrap="square" lIns="0" tIns="0" rIns="0" bIns="0" rtlCol="0">
            <a:noAutofit/>
          </a:bodyPr>
          <a:lstStyle/>
          <a:p>
            <a:r>
              <a:rPr lang="en-IN" sz="2100" b="1">
                <a:solidFill>
                  <a:srgbClr val="087F83"/>
                </a:solidFill>
                <a:latin typeface="Arial" panose="020B0604020202020204" pitchFamily="34" charset="0"/>
              </a:rPr>
              <a:t>Credential storage</a:t>
            </a:r>
          </a:p>
        </p:txBody>
      </p:sp>
      <p:sp>
        <p:nvSpPr>
          <p:cNvPr id="7" name="TextBox 6">
            <a:extLst>
              <a:ext uri="{FF2B5EF4-FFF2-40B4-BE49-F238E27FC236}">
                <a16:creationId xmlns:a16="http://schemas.microsoft.com/office/drawing/2014/main" id="{D35E811B-24E1-B7BC-657E-F906256EDB50}"/>
              </a:ext>
            </a:extLst>
          </p:cNvPr>
          <p:cNvSpPr txBox="1"/>
          <p:nvPr/>
        </p:nvSpPr>
        <p:spPr>
          <a:xfrm>
            <a:off x="3873500" y="2857499"/>
            <a:ext cx="7581900" cy="914400"/>
          </a:xfrm>
          <a:prstGeom prst="rect">
            <a:avLst/>
          </a:prstGeom>
          <a:noFill/>
        </p:spPr>
        <p:txBody>
          <a:bodyPr vert="horz" wrap="square" lIns="0" tIns="0" rIns="0" bIns="0" rtlCol="0">
            <a:noAutofit/>
          </a:bodyPr>
          <a:lstStyle/>
          <a:p>
            <a:r>
              <a:rPr lang="en-US" sz="2100">
                <a:solidFill>
                  <a:srgbClr val="102B3F"/>
                </a:solidFill>
                <a:latin typeface="Arial" panose="020B0604020202020204" pitchFamily="34" charset="0"/>
              </a:rPr>
              <a:t>Setup prints a random one-time password. Only an Argon2id hash is stored.</a:t>
            </a:r>
            <a:endParaRPr lang="en-IN" sz="2100">
              <a:solidFill>
                <a:srgbClr val="102B3F"/>
              </a:solidFill>
              <a:latin typeface="Arial" panose="020B0604020202020204" pitchFamily="34" charset="0"/>
            </a:endParaRPr>
          </a:p>
        </p:txBody>
      </p:sp>
      <p:sp>
        <p:nvSpPr>
          <p:cNvPr id="8" name="TextBox 7">
            <a:extLst>
              <a:ext uri="{FF2B5EF4-FFF2-40B4-BE49-F238E27FC236}">
                <a16:creationId xmlns:a16="http://schemas.microsoft.com/office/drawing/2014/main" id="{D78ED2CB-D820-24D3-AEE5-E036B82DC6B5}"/>
              </a:ext>
            </a:extLst>
          </p:cNvPr>
          <p:cNvSpPr txBox="1"/>
          <p:nvPr/>
        </p:nvSpPr>
        <p:spPr>
          <a:xfrm>
            <a:off x="609600" y="4000499"/>
            <a:ext cx="2895600" cy="736600"/>
          </a:xfrm>
          <a:prstGeom prst="rect">
            <a:avLst/>
          </a:prstGeom>
          <a:noFill/>
        </p:spPr>
        <p:txBody>
          <a:bodyPr vert="horz" wrap="square" lIns="0" tIns="0" rIns="0" bIns="0" rtlCol="0">
            <a:noAutofit/>
          </a:bodyPr>
          <a:lstStyle/>
          <a:p>
            <a:r>
              <a:rPr lang="en-IN" sz="2100" b="1">
                <a:solidFill>
                  <a:srgbClr val="087F83"/>
                </a:solidFill>
                <a:latin typeface="Arial" panose="020B0604020202020204" pitchFamily="34" charset="0"/>
              </a:rPr>
              <a:t>Strict request models</a:t>
            </a:r>
          </a:p>
        </p:txBody>
      </p:sp>
      <p:sp>
        <p:nvSpPr>
          <p:cNvPr id="9" name="TextBox 8">
            <a:extLst>
              <a:ext uri="{FF2B5EF4-FFF2-40B4-BE49-F238E27FC236}">
                <a16:creationId xmlns:a16="http://schemas.microsoft.com/office/drawing/2014/main" id="{591CC8DB-EF95-AC49-14E0-7A556C7CAFBA}"/>
              </a:ext>
            </a:extLst>
          </p:cNvPr>
          <p:cNvSpPr txBox="1"/>
          <p:nvPr/>
        </p:nvSpPr>
        <p:spPr>
          <a:xfrm>
            <a:off x="3873500" y="4000499"/>
            <a:ext cx="7581900" cy="914400"/>
          </a:xfrm>
          <a:prstGeom prst="rect">
            <a:avLst/>
          </a:prstGeom>
          <a:noFill/>
        </p:spPr>
        <p:txBody>
          <a:bodyPr vert="horz" wrap="square" lIns="0" tIns="0" rIns="0" bIns="0" rtlCol="0">
            <a:noAutofit/>
          </a:bodyPr>
          <a:lstStyle/>
          <a:p>
            <a:r>
              <a:rPr lang="en-US" sz="2100">
                <a:solidFill>
                  <a:srgbClr val="102B3F"/>
                </a:solidFill>
                <a:latin typeface="Arial" panose="020B0604020202020204" pitchFamily="34" charset="0"/>
              </a:rPr>
              <a:t>Customer and payment schemas forbid extra fields. Invalid requests return 422.</a:t>
            </a:r>
            <a:endParaRPr lang="en-IN" sz="2100">
              <a:solidFill>
                <a:srgbClr val="102B3F"/>
              </a:solidFill>
              <a:latin typeface="Arial" panose="020B0604020202020204" pitchFamily="34" charset="0"/>
            </a:endParaRPr>
          </a:p>
        </p:txBody>
      </p:sp>
      <p:sp>
        <p:nvSpPr>
          <p:cNvPr id="10" name="TextBox 9">
            <a:extLst>
              <a:ext uri="{FF2B5EF4-FFF2-40B4-BE49-F238E27FC236}">
                <a16:creationId xmlns:a16="http://schemas.microsoft.com/office/drawing/2014/main" id="{68A78149-E3AB-D366-98C8-ADF0F0DB8E61}"/>
              </a:ext>
            </a:extLst>
          </p:cNvPr>
          <p:cNvSpPr txBox="1"/>
          <p:nvPr/>
        </p:nvSpPr>
        <p:spPr>
          <a:xfrm>
            <a:off x="609600" y="5143499"/>
            <a:ext cx="2895600" cy="736600"/>
          </a:xfrm>
          <a:prstGeom prst="rect">
            <a:avLst/>
          </a:prstGeom>
          <a:noFill/>
        </p:spPr>
        <p:txBody>
          <a:bodyPr vert="horz" wrap="square" lIns="0" tIns="0" rIns="0" bIns="0" rtlCol="0">
            <a:noAutofit/>
          </a:bodyPr>
          <a:lstStyle/>
          <a:p>
            <a:r>
              <a:rPr lang="en-IN" sz="2100" b="1">
                <a:solidFill>
                  <a:srgbClr val="087F83"/>
                </a:solidFill>
                <a:latin typeface="Arial" panose="020B0604020202020204" pitchFamily="34" charset="0"/>
              </a:rPr>
              <a:t>Database writes</a:t>
            </a:r>
          </a:p>
        </p:txBody>
      </p:sp>
      <p:sp>
        <p:nvSpPr>
          <p:cNvPr id="11" name="TextBox 10">
            <a:extLst>
              <a:ext uri="{FF2B5EF4-FFF2-40B4-BE49-F238E27FC236}">
                <a16:creationId xmlns:a16="http://schemas.microsoft.com/office/drawing/2014/main" id="{08F22628-300E-92D8-8D34-7D861656285D}"/>
              </a:ext>
            </a:extLst>
          </p:cNvPr>
          <p:cNvSpPr txBox="1"/>
          <p:nvPr/>
        </p:nvSpPr>
        <p:spPr>
          <a:xfrm>
            <a:off x="3873500" y="5143499"/>
            <a:ext cx="7581900" cy="914400"/>
          </a:xfrm>
          <a:prstGeom prst="rect">
            <a:avLst/>
          </a:prstGeom>
          <a:noFill/>
        </p:spPr>
        <p:txBody>
          <a:bodyPr vert="horz" wrap="square" lIns="0" tIns="0" rIns="0" bIns="0" rtlCol="0">
            <a:noAutofit/>
          </a:bodyPr>
          <a:lstStyle/>
          <a:p>
            <a:r>
              <a:rPr lang="en-US" sz="2100">
                <a:solidFill>
                  <a:srgbClr val="102B3F"/>
                </a:solidFill>
                <a:latin typeface="Arial" panose="020B0604020202020204" pitchFamily="34" charset="0"/>
              </a:rPr>
              <a:t>Bound SQL parameters keep submitted values separate from SQL statements.</a:t>
            </a:r>
            <a:endParaRPr lang="en-IN" sz="2100">
              <a:solidFill>
                <a:srgbClr val="102B3F"/>
              </a:solidFill>
              <a:latin typeface="Arial" panose="020B0604020202020204" pitchFamily="34" charset="0"/>
            </a:endParaRPr>
          </a:p>
        </p:txBody>
      </p:sp>
    </p:spTree>
    <p:extLst>
      <p:ext uri="{BB962C8B-B14F-4D97-AF65-F5344CB8AC3E}">
        <p14:creationId xmlns:p14="http://schemas.microsoft.com/office/powerpoint/2010/main" val="3772741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CB646B9-69F2-544C-65CF-50FB5C4D6E52}"/>
              </a:ext>
            </a:extLst>
          </p:cNvPr>
          <p:cNvSpPr txBox="1"/>
          <p:nvPr/>
        </p:nvSpPr>
        <p:spPr>
          <a:xfrm>
            <a:off x="609600" y="482599"/>
            <a:ext cx="10972800" cy="863600"/>
          </a:xfrm>
          <a:prstGeom prst="rect">
            <a:avLst/>
          </a:prstGeom>
          <a:noFill/>
        </p:spPr>
        <p:txBody>
          <a:bodyPr vert="horz" wrap="square" lIns="0" tIns="0" rIns="0" bIns="0" rtlCol="0">
            <a:noAutofit/>
          </a:bodyPr>
          <a:lstStyle/>
          <a:p>
            <a:r>
              <a:rPr lang="en-IN" sz="3200" b="1">
                <a:solidFill>
                  <a:srgbClr val="102B3F"/>
                </a:solidFill>
                <a:latin typeface="Arial" panose="020B0604020202020204" pitchFamily="34" charset="0"/>
              </a:rPr>
              <a:t>Privacy through data minimization</a:t>
            </a:r>
          </a:p>
        </p:txBody>
      </p:sp>
      <p:sp>
        <p:nvSpPr>
          <p:cNvPr id="3" name="TextBox 2">
            <a:extLst>
              <a:ext uri="{FF2B5EF4-FFF2-40B4-BE49-F238E27FC236}">
                <a16:creationId xmlns:a16="http://schemas.microsoft.com/office/drawing/2014/main" id="{F5FB704A-D6EA-C023-59FD-CA055FA65CAA}"/>
              </a:ext>
            </a:extLst>
          </p:cNvPr>
          <p:cNvSpPr txBox="1"/>
          <p:nvPr/>
        </p:nvSpPr>
        <p:spPr>
          <a:xfrm>
            <a:off x="11049000" y="6388100"/>
            <a:ext cx="508000" cy="254000"/>
          </a:xfrm>
          <a:prstGeom prst="rect">
            <a:avLst/>
          </a:prstGeom>
          <a:noFill/>
        </p:spPr>
        <p:txBody>
          <a:bodyPr vert="horz" wrap="square" lIns="0" tIns="0" rIns="0" bIns="0" rtlCol="0">
            <a:noAutofit/>
          </a:bodyPr>
          <a:lstStyle/>
          <a:p>
            <a:r>
              <a:rPr lang="en-IN" sz="1100">
                <a:solidFill>
                  <a:srgbClr val="526674"/>
                </a:solidFill>
                <a:latin typeface="Arial" panose="020B0604020202020204" pitchFamily="34" charset="0"/>
              </a:rPr>
              <a:t>08</a:t>
            </a:r>
          </a:p>
        </p:txBody>
      </p:sp>
      <p:graphicFrame>
        <p:nvGraphicFramePr>
          <p:cNvPr id="4" name="Table 3">
            <a:extLst>
              <a:ext uri="{FF2B5EF4-FFF2-40B4-BE49-F238E27FC236}">
                <a16:creationId xmlns:a16="http://schemas.microsoft.com/office/drawing/2014/main" id="{FBB55F84-1BF5-F5FB-6D1B-083B0AA60D29}"/>
              </a:ext>
            </a:extLst>
          </p:cNvPr>
          <p:cNvGraphicFramePr>
            <a:graphicFrameLocks noGrp="1"/>
          </p:cNvGraphicFramePr>
          <p:nvPr>
            <p:extLst>
              <p:ext uri="{D42A27DB-BD31-4B8C-83A1-F6EECF244321}">
                <p14:modId xmlns:p14="http://schemas.microsoft.com/office/powerpoint/2010/main" val="2390241641"/>
              </p:ext>
            </p:extLst>
          </p:nvPr>
        </p:nvGraphicFramePr>
        <p:xfrm>
          <a:off x="609600" y="1778000"/>
          <a:ext cx="10972800" cy="3464560"/>
        </p:xfrm>
        <a:graphic>
          <a:graphicData uri="http://schemas.openxmlformats.org/drawingml/2006/table">
            <a:tbl>
              <a:tblPr firstRow="1" bandRow="1">
                <a:tableStyleId>{5C22544A-7EE6-4342-B048-85BDC9FD1C3A}</a:tableStyleId>
              </a:tblPr>
              <a:tblGrid>
                <a:gridCol w="4191000">
                  <a:extLst>
                    <a:ext uri="{9D8B030D-6E8A-4147-A177-3AD203B41FA5}">
                      <a16:colId xmlns:a16="http://schemas.microsoft.com/office/drawing/2014/main" val="3860339081"/>
                    </a:ext>
                  </a:extLst>
                </a:gridCol>
                <a:gridCol w="6781800">
                  <a:extLst>
                    <a:ext uri="{9D8B030D-6E8A-4147-A177-3AD203B41FA5}">
                      <a16:colId xmlns:a16="http://schemas.microsoft.com/office/drawing/2014/main" val="887639590"/>
                    </a:ext>
                  </a:extLst>
                </a:gridCol>
              </a:tblGrid>
              <a:tr h="558800">
                <a:tc>
                  <a:txBody>
                    <a:bodyPr/>
                    <a:lstStyle/>
                    <a:p>
                      <a:r>
                        <a:rPr lang="en-IN" sz="1800" b="1">
                          <a:solidFill>
                            <a:srgbClr val="FFFFFF"/>
                          </a:solidFill>
                          <a:latin typeface="Arial" panose="020B0604020202020204" pitchFamily="34" charset="0"/>
                        </a:rPr>
                        <a:t>Data category</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102B3F"/>
                    </a:solidFill>
                  </a:tcPr>
                </a:tc>
                <a:tc>
                  <a:txBody>
                    <a:bodyPr/>
                    <a:lstStyle/>
                    <a:p>
                      <a:r>
                        <a:rPr lang="en-IN" sz="1800" b="1">
                          <a:solidFill>
                            <a:srgbClr val="FFFFFF"/>
                          </a:solidFill>
                          <a:latin typeface="Arial" panose="020B0604020202020204" pitchFamily="34" charset="0"/>
                        </a:rPr>
                        <a:t>Project handling</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102B3F"/>
                    </a:solidFill>
                  </a:tcPr>
                </a:tc>
                <a:extLst>
                  <a:ext uri="{0D108BD9-81ED-4DB2-BD59-A6C34878D82A}">
                    <a16:rowId xmlns:a16="http://schemas.microsoft.com/office/drawing/2014/main" val="1350626352"/>
                  </a:ext>
                </a:extLst>
              </a:tr>
              <a:tr h="726440">
                <a:tc>
                  <a:txBody>
                    <a:bodyPr/>
                    <a:lstStyle/>
                    <a:p>
                      <a:r>
                        <a:rPr lang="en-IN" sz="1800" b="0">
                          <a:solidFill>
                            <a:srgbClr val="102B3F"/>
                          </a:solidFill>
                          <a:latin typeface="Arial" panose="020B0604020202020204" pitchFamily="34" charset="0"/>
                        </a:rPr>
                        <a:t>Customer name and email</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tc>
                  <a:txBody>
                    <a:bodyPr/>
                    <a:lstStyle/>
                    <a:p>
                      <a:r>
                        <a:rPr lang="en-US" sz="1800" b="0">
                          <a:solidFill>
                            <a:srgbClr val="102B3F"/>
                          </a:solidFill>
                          <a:latin typeface="Arial" panose="020B0604020202020204" pitchFamily="34" charset="0"/>
                        </a:rPr>
                        <a:t>Keep name for display. Encrypt email at rest.</a:t>
                      </a:r>
                      <a:endParaRPr lang="en-IN" sz="1800" b="0">
                        <a:solidFill>
                          <a:srgbClr val="102B3F"/>
                        </a:solidFill>
                        <a:latin typeface="Arial" panose="020B0604020202020204" pitchFamily="34" charset="0"/>
                      </a:endParaRP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extLst>
                  <a:ext uri="{0D108BD9-81ED-4DB2-BD59-A6C34878D82A}">
                    <a16:rowId xmlns:a16="http://schemas.microsoft.com/office/drawing/2014/main" val="4169794555"/>
                  </a:ext>
                </a:extLst>
              </a:tr>
              <a:tr h="726440">
                <a:tc>
                  <a:txBody>
                    <a:bodyPr/>
                    <a:lstStyle/>
                    <a:p>
                      <a:r>
                        <a:rPr lang="en-IN" sz="1800" b="0">
                          <a:solidFill>
                            <a:srgbClr val="102B3F"/>
                          </a:solidFill>
                          <a:latin typeface="Arial" panose="020B0604020202020204" pitchFamily="34" charset="0"/>
                        </a:rPr>
                        <a:t>Payment details</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tc>
                  <a:txBody>
                    <a:bodyPr/>
                    <a:lstStyle/>
                    <a:p>
                      <a:r>
                        <a:rPr lang="en-US" sz="1800" b="0">
                          <a:solidFill>
                            <a:srgbClr val="102B3F"/>
                          </a:solidFill>
                          <a:latin typeface="Arial" panose="020B0604020202020204" pitchFamily="34" charset="0"/>
                        </a:rPr>
                        <a:t>Store customer link, amount, demo token and last four.</a:t>
                      </a:r>
                      <a:endParaRPr lang="en-IN" sz="1800" b="0">
                        <a:solidFill>
                          <a:srgbClr val="102B3F"/>
                        </a:solidFill>
                        <a:latin typeface="Arial" panose="020B0604020202020204" pitchFamily="34" charset="0"/>
                      </a:endParaRP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extLst>
                  <a:ext uri="{0D108BD9-81ED-4DB2-BD59-A6C34878D82A}">
                    <a16:rowId xmlns:a16="http://schemas.microsoft.com/office/drawing/2014/main" val="1890633578"/>
                  </a:ext>
                </a:extLst>
              </a:tr>
              <a:tr h="726440">
                <a:tc>
                  <a:txBody>
                    <a:bodyPr/>
                    <a:lstStyle/>
                    <a:p>
                      <a:r>
                        <a:rPr lang="en-US" sz="1800" b="0">
                          <a:solidFill>
                            <a:srgbClr val="102B3F"/>
                          </a:solidFill>
                          <a:latin typeface="Arial" panose="020B0604020202020204" pitchFamily="34" charset="0"/>
                        </a:rPr>
                        <a:t>Phone, address, date of birth</a:t>
                      </a:r>
                      <a:endParaRPr lang="en-IN" sz="1800" b="0">
                        <a:solidFill>
                          <a:srgbClr val="102B3F"/>
                        </a:solidFill>
                        <a:latin typeface="Arial" panose="020B0604020202020204" pitchFamily="34" charset="0"/>
                      </a:endParaRP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tc>
                  <a:txBody>
                    <a:bodyPr/>
                    <a:lstStyle/>
                    <a:p>
                      <a:r>
                        <a:rPr lang="en-US" sz="1800" b="0">
                          <a:solidFill>
                            <a:srgbClr val="102B3F"/>
                          </a:solidFill>
                          <a:latin typeface="Arial" panose="020B0604020202020204" pitchFamily="34" charset="0"/>
                        </a:rPr>
                        <a:t>Omit from customer and payment schemas.</a:t>
                      </a:r>
                      <a:endParaRPr lang="en-IN" sz="1800" b="0">
                        <a:solidFill>
                          <a:srgbClr val="102B3F"/>
                        </a:solidFill>
                        <a:latin typeface="Arial" panose="020B0604020202020204" pitchFamily="34" charset="0"/>
                      </a:endParaRP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extLst>
                  <a:ext uri="{0D108BD9-81ED-4DB2-BD59-A6C34878D82A}">
                    <a16:rowId xmlns:a16="http://schemas.microsoft.com/office/drawing/2014/main" val="473718545"/>
                  </a:ext>
                </a:extLst>
              </a:tr>
              <a:tr h="726440">
                <a:tc>
                  <a:txBody>
                    <a:bodyPr/>
                    <a:lstStyle/>
                    <a:p>
                      <a:r>
                        <a:rPr lang="en-US" sz="1800" b="0">
                          <a:solidFill>
                            <a:srgbClr val="102B3F"/>
                          </a:solidFill>
                          <a:latin typeface="Arial" panose="020B0604020202020204" pitchFamily="34" charset="0"/>
                        </a:rPr>
                        <a:t>Full PAN, CVV and PIN</a:t>
                      </a:r>
                      <a:endParaRPr lang="en-IN" sz="1800" b="0">
                        <a:solidFill>
                          <a:srgbClr val="102B3F"/>
                        </a:solidFill>
                        <a:latin typeface="Arial" panose="020B0604020202020204" pitchFamily="34" charset="0"/>
                      </a:endParaRP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tc>
                  <a:txBody>
                    <a:bodyPr/>
                    <a:lstStyle/>
                    <a:p>
                      <a:r>
                        <a:rPr lang="en-US" sz="1800" b="0">
                          <a:solidFill>
                            <a:srgbClr val="102B3F"/>
                          </a:solidFill>
                          <a:latin typeface="Arial" panose="020B0604020202020204" pitchFamily="34" charset="0"/>
                        </a:rPr>
                        <a:t>Do not accept in customer or payment creation.</a:t>
                      </a:r>
                      <a:endParaRPr lang="en-IN" sz="1800" b="0">
                        <a:solidFill>
                          <a:srgbClr val="102B3F"/>
                        </a:solidFill>
                        <a:latin typeface="Arial" panose="020B0604020202020204" pitchFamily="34" charset="0"/>
                      </a:endParaRP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extLst>
                  <a:ext uri="{0D108BD9-81ED-4DB2-BD59-A6C34878D82A}">
                    <a16:rowId xmlns:a16="http://schemas.microsoft.com/office/drawing/2014/main" val="1154208227"/>
                  </a:ext>
                </a:extLst>
              </a:tr>
            </a:tbl>
          </a:graphicData>
        </a:graphic>
      </p:graphicFrame>
      <p:sp>
        <p:nvSpPr>
          <p:cNvPr id="5" name="TextBox 4">
            <a:extLst>
              <a:ext uri="{FF2B5EF4-FFF2-40B4-BE49-F238E27FC236}">
                <a16:creationId xmlns:a16="http://schemas.microsoft.com/office/drawing/2014/main" id="{4826E54D-531C-9175-1C8B-EF88B5A54A51}"/>
              </a:ext>
            </a:extLst>
          </p:cNvPr>
          <p:cNvSpPr txBox="1"/>
          <p:nvPr/>
        </p:nvSpPr>
        <p:spPr>
          <a:xfrm>
            <a:off x="609600" y="5714999"/>
            <a:ext cx="10972800" cy="698500"/>
          </a:xfrm>
          <a:prstGeom prst="rect">
            <a:avLst/>
          </a:prstGeom>
          <a:noFill/>
        </p:spPr>
        <p:txBody>
          <a:bodyPr vert="horz" wrap="square" lIns="0" tIns="0" rIns="0" bIns="0" rtlCol="0">
            <a:noAutofit/>
          </a:bodyPr>
          <a:lstStyle/>
          <a:p>
            <a:r>
              <a:rPr lang="en-US" sz="2000">
                <a:solidFill>
                  <a:srgbClr val="087F83"/>
                </a:solidFill>
                <a:latin typeface="Arial" panose="020B0604020202020204" pitchFamily="34" charset="0"/>
              </a:rPr>
              <a:t>The payload inspector explains whether candidate fields are needed, unnecessary, or prohibited by the demo policy.</a:t>
            </a:r>
            <a:endParaRPr lang="en-IN" sz="2000">
              <a:solidFill>
                <a:srgbClr val="087F83"/>
              </a:solidFill>
              <a:latin typeface="Arial" panose="020B0604020202020204" pitchFamily="34" charset="0"/>
            </a:endParaRPr>
          </a:p>
        </p:txBody>
      </p:sp>
    </p:spTree>
    <p:extLst>
      <p:ext uri="{BB962C8B-B14F-4D97-AF65-F5344CB8AC3E}">
        <p14:creationId xmlns:p14="http://schemas.microsoft.com/office/powerpoint/2010/main" val="38630902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AFEA472-0D15-8DC5-659C-AD89A54BCF40}"/>
              </a:ext>
            </a:extLst>
          </p:cNvPr>
          <p:cNvSpPr txBox="1"/>
          <p:nvPr/>
        </p:nvSpPr>
        <p:spPr>
          <a:xfrm>
            <a:off x="609600" y="482599"/>
            <a:ext cx="10972800" cy="863600"/>
          </a:xfrm>
          <a:prstGeom prst="rect">
            <a:avLst/>
          </a:prstGeom>
          <a:noFill/>
        </p:spPr>
        <p:txBody>
          <a:bodyPr vert="horz" wrap="square" lIns="0" tIns="0" rIns="0" bIns="0" rtlCol="0">
            <a:noAutofit/>
          </a:bodyPr>
          <a:lstStyle/>
          <a:p>
            <a:r>
              <a:rPr lang="en-US" sz="3200" b="1">
                <a:solidFill>
                  <a:srgbClr val="102B3F"/>
                </a:solidFill>
                <a:latin typeface="Arial" panose="020B0604020202020204" pitchFamily="34" charset="0"/>
              </a:rPr>
              <a:t>Seeded data: before and after</a:t>
            </a:r>
            <a:endParaRPr lang="en-IN" sz="3200" b="1">
              <a:solidFill>
                <a:srgbClr val="102B3F"/>
              </a:solidFill>
              <a:latin typeface="Arial" panose="020B0604020202020204" pitchFamily="34" charset="0"/>
            </a:endParaRPr>
          </a:p>
        </p:txBody>
      </p:sp>
      <p:sp>
        <p:nvSpPr>
          <p:cNvPr id="3" name="TextBox 2">
            <a:extLst>
              <a:ext uri="{FF2B5EF4-FFF2-40B4-BE49-F238E27FC236}">
                <a16:creationId xmlns:a16="http://schemas.microsoft.com/office/drawing/2014/main" id="{4B122618-1DC9-976F-41D1-525FC7D90420}"/>
              </a:ext>
            </a:extLst>
          </p:cNvPr>
          <p:cNvSpPr txBox="1"/>
          <p:nvPr/>
        </p:nvSpPr>
        <p:spPr>
          <a:xfrm>
            <a:off x="11049000" y="6388100"/>
            <a:ext cx="508000" cy="254000"/>
          </a:xfrm>
          <a:prstGeom prst="rect">
            <a:avLst/>
          </a:prstGeom>
          <a:noFill/>
        </p:spPr>
        <p:txBody>
          <a:bodyPr vert="horz" wrap="square" lIns="0" tIns="0" rIns="0" bIns="0" rtlCol="0">
            <a:noAutofit/>
          </a:bodyPr>
          <a:lstStyle/>
          <a:p>
            <a:r>
              <a:rPr lang="en-IN" sz="1100">
                <a:solidFill>
                  <a:srgbClr val="526674"/>
                </a:solidFill>
                <a:latin typeface="Arial" panose="020B0604020202020204" pitchFamily="34" charset="0"/>
              </a:rPr>
              <a:t>09</a:t>
            </a:r>
          </a:p>
        </p:txBody>
      </p:sp>
      <p:sp>
        <p:nvSpPr>
          <p:cNvPr id="4" name="TextBox 3">
            <a:extLst>
              <a:ext uri="{FF2B5EF4-FFF2-40B4-BE49-F238E27FC236}">
                <a16:creationId xmlns:a16="http://schemas.microsoft.com/office/drawing/2014/main" id="{5D0265D6-0AFE-0E9A-03D3-DE414C33D9E2}"/>
              </a:ext>
            </a:extLst>
          </p:cNvPr>
          <p:cNvSpPr txBox="1"/>
          <p:nvPr/>
        </p:nvSpPr>
        <p:spPr>
          <a:xfrm>
            <a:off x="609600" y="1473199"/>
            <a:ext cx="10972800" cy="406400"/>
          </a:xfrm>
          <a:prstGeom prst="rect">
            <a:avLst/>
          </a:prstGeom>
          <a:noFill/>
        </p:spPr>
        <p:txBody>
          <a:bodyPr vert="horz" wrap="square" lIns="0" tIns="0" rIns="0" bIns="0" rtlCol="0">
            <a:noAutofit/>
          </a:bodyPr>
          <a:lstStyle/>
          <a:p>
            <a:r>
              <a:rPr lang="en-US" sz="2000">
                <a:solidFill>
                  <a:srgbClr val="526674"/>
                </a:solidFill>
                <a:latin typeface="Arial" panose="020B0604020202020204" pitchFamily="34" charset="0"/>
              </a:rPr>
              <a:t>Comparison for the two fictional customers created by setup</a:t>
            </a:r>
            <a:endParaRPr lang="en-IN" sz="2000">
              <a:solidFill>
                <a:srgbClr val="526674"/>
              </a:solidFill>
              <a:latin typeface="Arial" panose="020B0604020202020204" pitchFamily="34" charset="0"/>
            </a:endParaRPr>
          </a:p>
        </p:txBody>
      </p:sp>
      <p:graphicFrame>
        <p:nvGraphicFramePr>
          <p:cNvPr id="5" name="Table 4">
            <a:extLst>
              <a:ext uri="{FF2B5EF4-FFF2-40B4-BE49-F238E27FC236}">
                <a16:creationId xmlns:a16="http://schemas.microsoft.com/office/drawing/2014/main" id="{5F0510A0-8CD6-EF6E-1D37-868D5586C8EC}"/>
              </a:ext>
            </a:extLst>
          </p:cNvPr>
          <p:cNvGraphicFramePr>
            <a:graphicFrameLocks noGrp="1"/>
          </p:cNvGraphicFramePr>
          <p:nvPr>
            <p:extLst>
              <p:ext uri="{D42A27DB-BD31-4B8C-83A1-F6EECF244321}">
                <p14:modId xmlns:p14="http://schemas.microsoft.com/office/powerpoint/2010/main" val="3877689483"/>
              </p:ext>
            </p:extLst>
          </p:nvPr>
        </p:nvGraphicFramePr>
        <p:xfrm>
          <a:off x="609600" y="2184400"/>
          <a:ext cx="10972800" cy="3251200"/>
        </p:xfrm>
        <a:graphic>
          <a:graphicData uri="http://schemas.openxmlformats.org/drawingml/2006/table">
            <a:tbl>
              <a:tblPr firstRow="1" bandRow="1">
                <a:tableStyleId>{5C22544A-7EE6-4342-B048-85BDC9FD1C3A}</a:tableStyleId>
              </a:tblPr>
              <a:tblGrid>
                <a:gridCol w="4445000">
                  <a:extLst>
                    <a:ext uri="{9D8B030D-6E8A-4147-A177-3AD203B41FA5}">
                      <a16:colId xmlns:a16="http://schemas.microsoft.com/office/drawing/2014/main" val="849811897"/>
                    </a:ext>
                  </a:extLst>
                </a:gridCol>
                <a:gridCol w="3263900">
                  <a:extLst>
                    <a:ext uri="{9D8B030D-6E8A-4147-A177-3AD203B41FA5}">
                      <a16:colId xmlns:a16="http://schemas.microsoft.com/office/drawing/2014/main" val="1042717275"/>
                    </a:ext>
                  </a:extLst>
                </a:gridCol>
                <a:gridCol w="3263900">
                  <a:extLst>
                    <a:ext uri="{9D8B030D-6E8A-4147-A177-3AD203B41FA5}">
                      <a16:colId xmlns:a16="http://schemas.microsoft.com/office/drawing/2014/main" val="3362367290"/>
                    </a:ext>
                  </a:extLst>
                </a:gridCol>
              </a:tblGrid>
              <a:tr h="558800">
                <a:tc>
                  <a:txBody>
                    <a:bodyPr/>
                    <a:lstStyle/>
                    <a:p>
                      <a:r>
                        <a:rPr lang="en-IN" sz="1900" b="1">
                          <a:solidFill>
                            <a:srgbClr val="FFFFFF"/>
                          </a:solidFill>
                          <a:latin typeface="Arial" panose="020B0604020202020204" pitchFamily="34" charset="0"/>
                        </a:rPr>
                        <a:t>Measure</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102B3F"/>
                    </a:solidFill>
                  </a:tcPr>
                </a:tc>
                <a:tc>
                  <a:txBody>
                    <a:bodyPr/>
                    <a:lstStyle/>
                    <a:p>
                      <a:r>
                        <a:rPr lang="en-IN" sz="1900" b="1">
                          <a:solidFill>
                            <a:srgbClr val="FFFFFF"/>
                          </a:solidFill>
                          <a:latin typeface="Arial" panose="020B0604020202020204" pitchFamily="34" charset="0"/>
                        </a:rPr>
                        <a:t>Illustrative baseline</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102B3F"/>
                    </a:solidFill>
                  </a:tcPr>
                </a:tc>
                <a:tc>
                  <a:txBody>
                    <a:bodyPr/>
                    <a:lstStyle/>
                    <a:p>
                      <a:r>
                        <a:rPr lang="en-IN" sz="1900" b="1">
                          <a:solidFill>
                            <a:srgbClr val="FFFFFF"/>
                          </a:solidFill>
                          <a:latin typeface="Arial" panose="020B0604020202020204" pitchFamily="34" charset="0"/>
                        </a:rPr>
                        <a:t>Protected storage</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102B3F"/>
                    </a:solidFill>
                  </a:tcPr>
                </a:tc>
                <a:extLst>
                  <a:ext uri="{0D108BD9-81ED-4DB2-BD59-A6C34878D82A}">
                    <a16:rowId xmlns:a16="http://schemas.microsoft.com/office/drawing/2014/main" val="58358214"/>
                  </a:ext>
                </a:extLst>
              </a:tr>
              <a:tr h="673100">
                <a:tc>
                  <a:txBody>
                    <a:bodyPr/>
                    <a:lstStyle/>
                    <a:p>
                      <a:r>
                        <a:rPr lang="en-IN" sz="1900" b="0">
                          <a:solidFill>
                            <a:srgbClr val="102B3F"/>
                          </a:solidFill>
                          <a:latin typeface="Arial" panose="020B0604020202020204" pitchFamily="34" charset="0"/>
                        </a:rPr>
                        <a:t>Readable emails in storage</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tc>
                  <a:txBody>
                    <a:bodyPr/>
                    <a:lstStyle/>
                    <a:p>
                      <a:r>
                        <a:rPr lang="en-IN" sz="1900" b="0">
                          <a:solidFill>
                            <a:srgbClr val="102B3F"/>
                          </a:solidFill>
                          <a:latin typeface="Arial" panose="020B0604020202020204" pitchFamily="34" charset="0"/>
                        </a:rPr>
                        <a:t>2</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tc>
                  <a:txBody>
                    <a:bodyPr/>
                    <a:lstStyle/>
                    <a:p>
                      <a:r>
                        <a:rPr lang="en-IN" sz="1900" b="0">
                          <a:solidFill>
                            <a:srgbClr val="102B3F"/>
                          </a:solidFill>
                          <a:latin typeface="Arial" panose="020B0604020202020204" pitchFamily="34" charset="0"/>
                        </a:rPr>
                        <a:t>0</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extLst>
                  <a:ext uri="{0D108BD9-81ED-4DB2-BD59-A6C34878D82A}">
                    <a16:rowId xmlns:a16="http://schemas.microsoft.com/office/drawing/2014/main" val="466509470"/>
                  </a:ext>
                </a:extLst>
              </a:tr>
              <a:tr h="673100">
                <a:tc>
                  <a:txBody>
                    <a:bodyPr/>
                    <a:lstStyle/>
                    <a:p>
                      <a:r>
                        <a:rPr lang="en-IN" sz="1900" b="0">
                          <a:solidFill>
                            <a:srgbClr val="102B3F"/>
                          </a:solidFill>
                          <a:latin typeface="Arial" panose="020B0604020202020204" pitchFamily="34" charset="0"/>
                        </a:rPr>
                        <a:t>Encrypted customer emails</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tc>
                  <a:txBody>
                    <a:bodyPr/>
                    <a:lstStyle/>
                    <a:p>
                      <a:r>
                        <a:rPr lang="en-IN" sz="1900" b="0">
                          <a:solidFill>
                            <a:srgbClr val="102B3F"/>
                          </a:solidFill>
                          <a:latin typeface="Arial" panose="020B0604020202020204" pitchFamily="34" charset="0"/>
                        </a:rPr>
                        <a:t>0</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tc>
                  <a:txBody>
                    <a:bodyPr/>
                    <a:lstStyle/>
                    <a:p>
                      <a:r>
                        <a:rPr lang="en-IN" sz="1900" b="0">
                          <a:solidFill>
                            <a:srgbClr val="102B3F"/>
                          </a:solidFill>
                          <a:latin typeface="Arial" panose="020B0604020202020204" pitchFamily="34" charset="0"/>
                        </a:rPr>
                        <a:t>2 of 2 (100%)</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extLst>
                  <a:ext uri="{0D108BD9-81ED-4DB2-BD59-A6C34878D82A}">
                    <a16:rowId xmlns:a16="http://schemas.microsoft.com/office/drawing/2014/main" val="2924967740"/>
                  </a:ext>
                </a:extLst>
              </a:tr>
              <a:tr h="673100">
                <a:tc>
                  <a:txBody>
                    <a:bodyPr/>
                    <a:lstStyle/>
                    <a:p>
                      <a:r>
                        <a:rPr lang="en-IN" sz="1900" b="0">
                          <a:solidFill>
                            <a:srgbClr val="102B3F"/>
                          </a:solidFill>
                          <a:latin typeface="Arial" panose="020B0604020202020204" pitchFamily="34" charset="0"/>
                        </a:rPr>
                        <a:t>Excess field types</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tc>
                  <a:txBody>
                    <a:bodyPr/>
                    <a:lstStyle/>
                    <a:p>
                      <a:r>
                        <a:rPr lang="en-IN" sz="1900" b="0">
                          <a:solidFill>
                            <a:srgbClr val="102B3F"/>
                          </a:solidFill>
                          <a:latin typeface="Arial" panose="020B0604020202020204" pitchFamily="34" charset="0"/>
                        </a:rPr>
                        <a:t>5</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tc>
                  <a:txBody>
                    <a:bodyPr/>
                    <a:lstStyle/>
                    <a:p>
                      <a:r>
                        <a:rPr lang="en-IN" sz="1900" b="0">
                          <a:solidFill>
                            <a:srgbClr val="102B3F"/>
                          </a:solidFill>
                          <a:latin typeface="Arial" panose="020B0604020202020204" pitchFamily="34" charset="0"/>
                        </a:rPr>
                        <a:t>0</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extLst>
                  <a:ext uri="{0D108BD9-81ED-4DB2-BD59-A6C34878D82A}">
                    <a16:rowId xmlns:a16="http://schemas.microsoft.com/office/drawing/2014/main" val="3612395256"/>
                  </a:ext>
                </a:extLst>
              </a:tr>
              <a:tr h="673100">
                <a:tc>
                  <a:txBody>
                    <a:bodyPr/>
                    <a:lstStyle/>
                    <a:p>
                      <a:r>
                        <a:rPr lang="en-IN" sz="1900" b="0">
                          <a:solidFill>
                            <a:srgbClr val="102B3F"/>
                          </a:solidFill>
                          <a:latin typeface="Arial" panose="020B0604020202020204" pitchFamily="34" charset="0"/>
                        </a:rPr>
                        <a:t>Payment audit coverage</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tc>
                  <a:txBody>
                    <a:bodyPr/>
                    <a:lstStyle/>
                    <a:p>
                      <a:r>
                        <a:rPr lang="en-IN" sz="1900" b="0">
                          <a:solidFill>
                            <a:srgbClr val="102B3F"/>
                          </a:solidFill>
                          <a:latin typeface="Arial" panose="020B0604020202020204" pitchFamily="34" charset="0"/>
                        </a:rPr>
                        <a:t>Not modeled</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tc>
                  <a:txBody>
                    <a:bodyPr/>
                    <a:lstStyle/>
                    <a:p>
                      <a:r>
                        <a:rPr lang="en-IN" sz="1900" b="0">
                          <a:solidFill>
                            <a:srgbClr val="102B3F"/>
                          </a:solidFill>
                          <a:latin typeface="Arial" panose="020B0604020202020204" pitchFamily="34" charset="0"/>
                        </a:rPr>
                        <a:t>2 of 2 (100%)</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extLst>
                  <a:ext uri="{0D108BD9-81ED-4DB2-BD59-A6C34878D82A}">
                    <a16:rowId xmlns:a16="http://schemas.microsoft.com/office/drawing/2014/main" val="4015989300"/>
                  </a:ext>
                </a:extLst>
              </a:tr>
            </a:tbl>
          </a:graphicData>
        </a:graphic>
      </p:graphicFrame>
      <p:sp>
        <p:nvSpPr>
          <p:cNvPr id="6" name="TextBox 5">
            <a:extLst>
              <a:ext uri="{FF2B5EF4-FFF2-40B4-BE49-F238E27FC236}">
                <a16:creationId xmlns:a16="http://schemas.microsoft.com/office/drawing/2014/main" id="{2C9BE08D-6E3D-87D1-DF34-6B748D3F21D3}"/>
              </a:ext>
            </a:extLst>
          </p:cNvPr>
          <p:cNvSpPr txBox="1"/>
          <p:nvPr/>
        </p:nvSpPr>
        <p:spPr>
          <a:xfrm>
            <a:off x="609600" y="5816599"/>
            <a:ext cx="10972800" cy="584200"/>
          </a:xfrm>
          <a:prstGeom prst="rect">
            <a:avLst/>
          </a:prstGeom>
          <a:noFill/>
        </p:spPr>
        <p:txBody>
          <a:bodyPr vert="horz" wrap="square" lIns="0" tIns="0" rIns="0" bIns="0" rtlCol="0">
            <a:noAutofit/>
          </a:bodyPr>
          <a:lstStyle/>
          <a:p>
            <a:r>
              <a:rPr lang="en-US" sz="1700">
                <a:solidFill>
                  <a:srgbClr val="526674"/>
                </a:solidFill>
                <a:latin typeface="Arial" panose="020B0604020202020204" pitchFamily="34" charset="0"/>
              </a:rPr>
              <a:t>The baseline exists only in memory. These are seed-data measurements, not performance benchmarks.</a:t>
            </a:r>
            <a:endParaRPr lang="en-IN" sz="1700">
              <a:solidFill>
                <a:srgbClr val="526674"/>
              </a:solidFill>
              <a:latin typeface="Arial" panose="020B0604020202020204" pitchFamily="34" charset="0"/>
            </a:endParaRPr>
          </a:p>
        </p:txBody>
      </p:sp>
    </p:spTree>
    <p:extLst>
      <p:ext uri="{BB962C8B-B14F-4D97-AF65-F5344CB8AC3E}">
        <p14:creationId xmlns:p14="http://schemas.microsoft.com/office/powerpoint/2010/main" val="9816984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590CE2F-D4AD-4F9F-A2C6-99F825101713}"/>
              </a:ext>
            </a:extLst>
          </p:cNvPr>
          <p:cNvSpPr txBox="1"/>
          <p:nvPr/>
        </p:nvSpPr>
        <p:spPr>
          <a:xfrm>
            <a:off x="609600" y="482599"/>
            <a:ext cx="10972800" cy="863600"/>
          </a:xfrm>
          <a:prstGeom prst="rect">
            <a:avLst/>
          </a:prstGeom>
          <a:noFill/>
        </p:spPr>
        <p:txBody>
          <a:bodyPr vert="horz" wrap="square" lIns="0" tIns="0" rIns="0" bIns="0" rtlCol="0">
            <a:noAutofit/>
          </a:bodyPr>
          <a:lstStyle/>
          <a:p>
            <a:r>
              <a:rPr lang="en-IN" sz="3200" b="1">
                <a:solidFill>
                  <a:srgbClr val="102B3F"/>
                </a:solidFill>
                <a:latin typeface="Arial" panose="020B0604020202020204" pitchFamily="34" charset="0"/>
              </a:rPr>
              <a:t>Selected PCI DSS principles</a:t>
            </a:r>
          </a:p>
        </p:txBody>
      </p:sp>
      <p:sp>
        <p:nvSpPr>
          <p:cNvPr id="3" name="TextBox 2">
            <a:extLst>
              <a:ext uri="{FF2B5EF4-FFF2-40B4-BE49-F238E27FC236}">
                <a16:creationId xmlns:a16="http://schemas.microsoft.com/office/drawing/2014/main" id="{87EDD4E2-424A-0B30-BD41-4481FEF2A926}"/>
              </a:ext>
            </a:extLst>
          </p:cNvPr>
          <p:cNvSpPr txBox="1"/>
          <p:nvPr/>
        </p:nvSpPr>
        <p:spPr>
          <a:xfrm>
            <a:off x="11049000" y="6388100"/>
            <a:ext cx="508000" cy="254000"/>
          </a:xfrm>
          <a:prstGeom prst="rect">
            <a:avLst/>
          </a:prstGeom>
          <a:noFill/>
        </p:spPr>
        <p:txBody>
          <a:bodyPr vert="horz" wrap="square" lIns="0" tIns="0" rIns="0" bIns="0" rtlCol="0">
            <a:noAutofit/>
          </a:bodyPr>
          <a:lstStyle/>
          <a:p>
            <a:r>
              <a:rPr lang="en-IN" sz="1100">
                <a:solidFill>
                  <a:srgbClr val="526674"/>
                </a:solidFill>
                <a:latin typeface="Arial" panose="020B0604020202020204" pitchFamily="34" charset="0"/>
              </a:rPr>
              <a:t>10</a:t>
            </a:r>
          </a:p>
        </p:txBody>
      </p:sp>
      <p:graphicFrame>
        <p:nvGraphicFramePr>
          <p:cNvPr id="4" name="Table 3">
            <a:extLst>
              <a:ext uri="{FF2B5EF4-FFF2-40B4-BE49-F238E27FC236}">
                <a16:creationId xmlns:a16="http://schemas.microsoft.com/office/drawing/2014/main" id="{C1C50DBD-2686-2AA5-43D0-62BB1D1ECCD6}"/>
              </a:ext>
            </a:extLst>
          </p:cNvPr>
          <p:cNvGraphicFramePr>
            <a:graphicFrameLocks noGrp="1"/>
          </p:cNvGraphicFramePr>
          <p:nvPr>
            <p:extLst>
              <p:ext uri="{D42A27DB-BD31-4B8C-83A1-F6EECF244321}">
                <p14:modId xmlns:p14="http://schemas.microsoft.com/office/powerpoint/2010/main" val="1548379259"/>
              </p:ext>
            </p:extLst>
          </p:nvPr>
        </p:nvGraphicFramePr>
        <p:xfrm>
          <a:off x="609600" y="1676400"/>
          <a:ext cx="10972800" cy="3839635"/>
        </p:xfrm>
        <a:graphic>
          <a:graphicData uri="http://schemas.openxmlformats.org/drawingml/2006/table">
            <a:tbl>
              <a:tblPr firstRow="1" bandRow="1">
                <a:tableStyleId>{5C22544A-7EE6-4342-B048-85BDC9FD1C3A}</a:tableStyleId>
              </a:tblPr>
              <a:tblGrid>
                <a:gridCol w="3619500">
                  <a:extLst>
                    <a:ext uri="{9D8B030D-6E8A-4147-A177-3AD203B41FA5}">
                      <a16:colId xmlns:a16="http://schemas.microsoft.com/office/drawing/2014/main" val="3848969797"/>
                    </a:ext>
                  </a:extLst>
                </a:gridCol>
                <a:gridCol w="7353300">
                  <a:extLst>
                    <a:ext uri="{9D8B030D-6E8A-4147-A177-3AD203B41FA5}">
                      <a16:colId xmlns:a16="http://schemas.microsoft.com/office/drawing/2014/main" val="3680112171"/>
                    </a:ext>
                  </a:extLst>
                </a:gridCol>
              </a:tblGrid>
              <a:tr h="558800">
                <a:tc>
                  <a:txBody>
                    <a:bodyPr/>
                    <a:lstStyle/>
                    <a:p>
                      <a:r>
                        <a:rPr lang="en-IN" sz="1800" b="1">
                          <a:solidFill>
                            <a:srgbClr val="FFFFFF"/>
                          </a:solidFill>
                          <a:latin typeface="Arial" panose="020B0604020202020204" pitchFamily="34" charset="0"/>
                        </a:rPr>
                        <a:t>Theme</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102B3F"/>
                    </a:solidFill>
                  </a:tcPr>
                </a:tc>
                <a:tc>
                  <a:txBody>
                    <a:bodyPr/>
                    <a:lstStyle/>
                    <a:p>
                      <a:r>
                        <a:rPr lang="en-IN" sz="1800" b="1">
                          <a:solidFill>
                            <a:srgbClr val="FFFFFF"/>
                          </a:solidFill>
                          <a:latin typeface="Arial" panose="020B0604020202020204" pitchFamily="34" charset="0"/>
                        </a:rPr>
                        <a:t>Implementation evidence</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102B3F"/>
                    </a:solidFill>
                  </a:tcPr>
                </a:tc>
                <a:extLst>
                  <a:ext uri="{0D108BD9-81ED-4DB2-BD59-A6C34878D82A}">
                    <a16:rowId xmlns:a16="http://schemas.microsoft.com/office/drawing/2014/main" val="3632535952"/>
                  </a:ext>
                </a:extLst>
              </a:tr>
              <a:tr h="656167">
                <a:tc>
                  <a:txBody>
                    <a:bodyPr/>
                    <a:lstStyle/>
                    <a:p>
                      <a:r>
                        <a:rPr lang="en-IN" sz="1800" b="0">
                          <a:solidFill>
                            <a:srgbClr val="102B3F"/>
                          </a:solidFill>
                          <a:latin typeface="Arial" panose="020B0604020202020204" pitchFamily="34" charset="0"/>
                        </a:rPr>
                        <a:t>Stored data and privacy</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tc>
                  <a:txBody>
                    <a:bodyPr/>
                    <a:lstStyle/>
                    <a:p>
                      <a:r>
                        <a:rPr lang="en-IN" sz="1800" b="0">
                          <a:solidFill>
                            <a:srgbClr val="102B3F"/>
                          </a:solidFill>
                          <a:latin typeface="Arial" panose="020B0604020202020204" pitchFamily="34" charset="0"/>
                        </a:rPr>
                        <a:t>Email encryption, minimal schemas, demo payment tokens</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extLst>
                  <a:ext uri="{0D108BD9-81ED-4DB2-BD59-A6C34878D82A}">
                    <a16:rowId xmlns:a16="http://schemas.microsoft.com/office/drawing/2014/main" val="1689716460"/>
                  </a:ext>
                </a:extLst>
              </a:tr>
              <a:tr h="656167">
                <a:tc>
                  <a:txBody>
                    <a:bodyPr/>
                    <a:lstStyle/>
                    <a:p>
                      <a:r>
                        <a:rPr lang="en-IN" sz="1800" b="0">
                          <a:solidFill>
                            <a:srgbClr val="102B3F"/>
                          </a:solidFill>
                          <a:latin typeface="Arial" panose="020B0604020202020204" pitchFamily="34" charset="0"/>
                        </a:rPr>
                        <a:t>Secure transmission</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tc>
                  <a:txBody>
                    <a:bodyPr/>
                    <a:lstStyle/>
                    <a:p>
                      <a:r>
                        <a:rPr lang="fr-FR" sz="1800" b="0">
                          <a:solidFill>
                            <a:srgbClr val="102B3F"/>
                          </a:solidFill>
                          <a:latin typeface="Arial" panose="020B0604020202020204" pitchFamily="34" charset="0"/>
                        </a:rPr>
                        <a:t>Local CA certificate, HTTPS enforcement, TLS verifier</a:t>
                      </a:r>
                      <a:endParaRPr lang="en-IN" sz="1800" b="0">
                        <a:solidFill>
                          <a:srgbClr val="102B3F"/>
                        </a:solidFill>
                        <a:latin typeface="Arial" panose="020B0604020202020204" pitchFamily="34" charset="0"/>
                      </a:endParaRP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extLst>
                  <a:ext uri="{0D108BD9-81ED-4DB2-BD59-A6C34878D82A}">
                    <a16:rowId xmlns:a16="http://schemas.microsoft.com/office/drawing/2014/main" val="1601935271"/>
                  </a:ext>
                </a:extLst>
              </a:tr>
              <a:tr h="656167">
                <a:tc>
                  <a:txBody>
                    <a:bodyPr/>
                    <a:lstStyle/>
                    <a:p>
                      <a:r>
                        <a:rPr lang="en-IN" sz="1800" b="0">
                          <a:solidFill>
                            <a:srgbClr val="102B3F"/>
                          </a:solidFill>
                          <a:latin typeface="Arial" panose="020B0604020202020204" pitchFamily="34" charset="0"/>
                        </a:rPr>
                        <a:t>Application security</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tc>
                  <a:txBody>
                    <a:bodyPr/>
                    <a:lstStyle/>
                    <a:p>
                      <a:r>
                        <a:rPr lang="en-US" sz="1800" b="0">
                          <a:solidFill>
                            <a:srgbClr val="102B3F"/>
                          </a:solidFill>
                          <a:latin typeface="Arial" panose="020B0604020202020204" pitchFamily="34" charset="0"/>
                        </a:rPr>
                        <a:t>Pydantic validation and parameterized SQLite writes</a:t>
                      </a:r>
                      <a:endParaRPr lang="en-IN" sz="1800" b="0">
                        <a:solidFill>
                          <a:srgbClr val="102B3F"/>
                        </a:solidFill>
                        <a:latin typeface="Arial" panose="020B0604020202020204" pitchFamily="34" charset="0"/>
                      </a:endParaRP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extLst>
                  <a:ext uri="{0D108BD9-81ED-4DB2-BD59-A6C34878D82A}">
                    <a16:rowId xmlns:a16="http://schemas.microsoft.com/office/drawing/2014/main" val="2219716169"/>
                  </a:ext>
                </a:extLst>
              </a:tr>
              <a:tr h="656167">
                <a:tc>
                  <a:txBody>
                    <a:bodyPr/>
                    <a:lstStyle/>
                    <a:p>
                      <a:r>
                        <a:rPr lang="en-IN" sz="1800" b="0">
                          <a:solidFill>
                            <a:srgbClr val="102B3F"/>
                          </a:solidFill>
                          <a:latin typeface="Arial" panose="020B0604020202020204" pitchFamily="34" charset="0"/>
                        </a:rPr>
                        <a:t>Access and credentials</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tc>
                  <a:txBody>
                    <a:bodyPr/>
                    <a:lstStyle/>
                    <a:p>
                      <a:r>
                        <a:rPr lang="en-US" sz="1800" b="0">
                          <a:solidFill>
                            <a:srgbClr val="102B3F"/>
                          </a:solidFill>
                          <a:latin typeface="Arial" panose="020B0604020202020204" pitchFamily="34" charset="0"/>
                        </a:rPr>
                        <a:t>Admin authentication and salted Argon2id hashes</a:t>
                      </a:r>
                      <a:endParaRPr lang="en-IN" sz="1800" b="0">
                        <a:solidFill>
                          <a:srgbClr val="102B3F"/>
                        </a:solidFill>
                        <a:latin typeface="Arial" panose="020B0604020202020204" pitchFamily="34" charset="0"/>
                      </a:endParaRP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extLst>
                  <a:ext uri="{0D108BD9-81ED-4DB2-BD59-A6C34878D82A}">
                    <a16:rowId xmlns:a16="http://schemas.microsoft.com/office/drawing/2014/main" val="490590011"/>
                  </a:ext>
                </a:extLst>
              </a:tr>
              <a:tr h="656167">
                <a:tc>
                  <a:txBody>
                    <a:bodyPr/>
                    <a:lstStyle/>
                    <a:p>
                      <a:r>
                        <a:rPr lang="en-IN" sz="1800" b="0">
                          <a:solidFill>
                            <a:srgbClr val="102B3F"/>
                          </a:solidFill>
                          <a:latin typeface="Arial" panose="020B0604020202020204" pitchFamily="34" charset="0"/>
                        </a:rPr>
                        <a:t>Activity monitoring</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tc>
                  <a:txBody>
                    <a:bodyPr/>
                    <a:lstStyle/>
                    <a:p>
                      <a:r>
                        <a:rPr lang="en-IN" sz="1800" b="0">
                          <a:solidFill>
                            <a:srgbClr val="102B3F"/>
                          </a:solidFill>
                          <a:latin typeface="Arial" panose="020B0604020202020204" pitchFamily="34" charset="0"/>
                        </a:rPr>
                        <a:t>Timestamped payment audit events</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extLst>
                  <a:ext uri="{0D108BD9-81ED-4DB2-BD59-A6C34878D82A}">
                    <a16:rowId xmlns:a16="http://schemas.microsoft.com/office/drawing/2014/main" val="494513934"/>
                  </a:ext>
                </a:extLst>
              </a:tr>
            </a:tbl>
          </a:graphicData>
        </a:graphic>
      </p:graphicFrame>
      <p:sp>
        <p:nvSpPr>
          <p:cNvPr id="5" name="TextBox 4">
            <a:extLst>
              <a:ext uri="{FF2B5EF4-FFF2-40B4-BE49-F238E27FC236}">
                <a16:creationId xmlns:a16="http://schemas.microsoft.com/office/drawing/2014/main" id="{CA40E6CE-A924-DB41-ECD2-E2BA104F6A3A}"/>
              </a:ext>
            </a:extLst>
          </p:cNvPr>
          <p:cNvSpPr txBox="1"/>
          <p:nvPr/>
        </p:nvSpPr>
        <p:spPr>
          <a:xfrm>
            <a:off x="609600" y="5880099"/>
            <a:ext cx="10972800" cy="596900"/>
          </a:xfrm>
          <a:prstGeom prst="rect">
            <a:avLst/>
          </a:prstGeom>
          <a:noFill/>
        </p:spPr>
        <p:txBody>
          <a:bodyPr vert="horz" wrap="square" lIns="0" tIns="0" rIns="0" bIns="0" rtlCol="0">
            <a:noAutofit/>
          </a:bodyPr>
          <a:lstStyle/>
          <a:p>
            <a:r>
              <a:rPr lang="en-US" sz="1700">
                <a:solidFill>
                  <a:srgbClr val="087F83"/>
                </a:solidFill>
                <a:latin typeface="Arial" panose="020B0604020202020204" pitchFamily="34" charset="0"/>
              </a:rPr>
              <a:t>The dashboard demonstrates selected principles. Passing its checks does not establish PCI DSS compliance or certification.</a:t>
            </a:r>
            <a:endParaRPr lang="en-IN" sz="1700">
              <a:solidFill>
                <a:srgbClr val="087F83"/>
              </a:solidFill>
              <a:latin typeface="Arial" panose="020B0604020202020204" pitchFamily="34" charset="0"/>
            </a:endParaRPr>
          </a:p>
        </p:txBody>
      </p:sp>
    </p:spTree>
    <p:extLst>
      <p:ext uri="{BB962C8B-B14F-4D97-AF65-F5344CB8AC3E}">
        <p14:creationId xmlns:p14="http://schemas.microsoft.com/office/powerpoint/2010/main" val="13020697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CB0995-FE55-D23B-695A-D9AD77631F92}"/>
              </a:ext>
            </a:extLst>
          </p:cNvPr>
          <p:cNvSpPr txBox="1"/>
          <p:nvPr/>
        </p:nvSpPr>
        <p:spPr>
          <a:xfrm>
            <a:off x="609600" y="482599"/>
            <a:ext cx="10972800" cy="863600"/>
          </a:xfrm>
          <a:prstGeom prst="rect">
            <a:avLst/>
          </a:prstGeom>
          <a:noFill/>
        </p:spPr>
        <p:txBody>
          <a:bodyPr vert="horz" wrap="square" lIns="0" tIns="0" rIns="0" bIns="0" rtlCol="0">
            <a:noAutofit/>
          </a:bodyPr>
          <a:lstStyle/>
          <a:p>
            <a:r>
              <a:rPr lang="en-IN" sz="3200" b="1">
                <a:solidFill>
                  <a:srgbClr val="102B3F"/>
                </a:solidFill>
                <a:latin typeface="Arial" panose="020B0604020202020204" pitchFamily="34" charset="0"/>
              </a:rPr>
              <a:t>Automated verification</a:t>
            </a:r>
          </a:p>
        </p:txBody>
      </p:sp>
      <p:sp>
        <p:nvSpPr>
          <p:cNvPr id="3" name="TextBox 2">
            <a:extLst>
              <a:ext uri="{FF2B5EF4-FFF2-40B4-BE49-F238E27FC236}">
                <a16:creationId xmlns:a16="http://schemas.microsoft.com/office/drawing/2014/main" id="{94BE4ECA-027B-A696-B2EE-576443D9A02D}"/>
              </a:ext>
            </a:extLst>
          </p:cNvPr>
          <p:cNvSpPr txBox="1"/>
          <p:nvPr/>
        </p:nvSpPr>
        <p:spPr>
          <a:xfrm>
            <a:off x="11049000" y="6388100"/>
            <a:ext cx="508000" cy="254000"/>
          </a:xfrm>
          <a:prstGeom prst="rect">
            <a:avLst/>
          </a:prstGeom>
          <a:noFill/>
        </p:spPr>
        <p:txBody>
          <a:bodyPr vert="horz" wrap="square" lIns="0" tIns="0" rIns="0" bIns="0" rtlCol="0">
            <a:noAutofit/>
          </a:bodyPr>
          <a:lstStyle/>
          <a:p>
            <a:r>
              <a:rPr lang="en-IN" sz="1100">
                <a:solidFill>
                  <a:srgbClr val="526674"/>
                </a:solidFill>
                <a:latin typeface="Arial" panose="020B0604020202020204" pitchFamily="34" charset="0"/>
              </a:rPr>
              <a:t>11</a:t>
            </a:r>
          </a:p>
        </p:txBody>
      </p:sp>
      <p:sp>
        <p:nvSpPr>
          <p:cNvPr id="4" name="TextBox 3">
            <a:extLst>
              <a:ext uri="{FF2B5EF4-FFF2-40B4-BE49-F238E27FC236}">
                <a16:creationId xmlns:a16="http://schemas.microsoft.com/office/drawing/2014/main" id="{EECB385E-245F-2999-1C47-06347478148B}"/>
              </a:ext>
            </a:extLst>
          </p:cNvPr>
          <p:cNvSpPr txBox="1"/>
          <p:nvPr/>
        </p:nvSpPr>
        <p:spPr>
          <a:xfrm>
            <a:off x="609600" y="1587499"/>
            <a:ext cx="3492500" cy="1079500"/>
          </a:xfrm>
          <a:prstGeom prst="rect">
            <a:avLst/>
          </a:prstGeom>
          <a:noFill/>
        </p:spPr>
        <p:txBody>
          <a:bodyPr vert="horz" wrap="square" lIns="0" tIns="0" rIns="0" bIns="0" rtlCol="0">
            <a:noAutofit/>
          </a:bodyPr>
          <a:lstStyle/>
          <a:p>
            <a:r>
              <a:rPr lang="en-IN" sz="6000" b="1">
                <a:solidFill>
                  <a:srgbClr val="087F83"/>
                </a:solidFill>
                <a:latin typeface="Arial" panose="020B0604020202020204" pitchFamily="34" charset="0"/>
              </a:rPr>
              <a:t>6 / 6</a:t>
            </a:r>
          </a:p>
        </p:txBody>
      </p:sp>
      <p:sp>
        <p:nvSpPr>
          <p:cNvPr id="5" name="TextBox 4">
            <a:extLst>
              <a:ext uri="{FF2B5EF4-FFF2-40B4-BE49-F238E27FC236}">
                <a16:creationId xmlns:a16="http://schemas.microsoft.com/office/drawing/2014/main" id="{ACDD996C-6C35-A5F8-8F21-0E4C21429FBB}"/>
              </a:ext>
            </a:extLst>
          </p:cNvPr>
          <p:cNvSpPr txBox="1"/>
          <p:nvPr/>
        </p:nvSpPr>
        <p:spPr>
          <a:xfrm>
            <a:off x="609600" y="2793999"/>
            <a:ext cx="3492500" cy="533400"/>
          </a:xfrm>
          <a:prstGeom prst="rect">
            <a:avLst/>
          </a:prstGeom>
          <a:noFill/>
        </p:spPr>
        <p:txBody>
          <a:bodyPr vert="horz" wrap="square" lIns="0" tIns="0" rIns="0" bIns="0" rtlCol="0">
            <a:noAutofit/>
          </a:bodyPr>
          <a:lstStyle/>
          <a:p>
            <a:r>
              <a:rPr lang="en-IN" sz="2700" b="1">
                <a:solidFill>
                  <a:srgbClr val="102B3F"/>
                </a:solidFill>
                <a:latin typeface="Arial" panose="020B0604020202020204" pitchFamily="34" charset="0"/>
              </a:rPr>
              <a:t>tests passed</a:t>
            </a:r>
          </a:p>
        </p:txBody>
      </p:sp>
      <p:sp>
        <p:nvSpPr>
          <p:cNvPr id="6" name="TextBox 5">
            <a:extLst>
              <a:ext uri="{FF2B5EF4-FFF2-40B4-BE49-F238E27FC236}">
                <a16:creationId xmlns:a16="http://schemas.microsoft.com/office/drawing/2014/main" id="{6A0678D3-740F-802D-A0DE-34B02BC0861C}"/>
              </a:ext>
            </a:extLst>
          </p:cNvPr>
          <p:cNvSpPr txBox="1"/>
          <p:nvPr/>
        </p:nvSpPr>
        <p:spPr>
          <a:xfrm>
            <a:off x="609600" y="3606799"/>
            <a:ext cx="3429000" cy="698500"/>
          </a:xfrm>
          <a:prstGeom prst="rect">
            <a:avLst/>
          </a:prstGeom>
          <a:noFill/>
        </p:spPr>
        <p:txBody>
          <a:bodyPr vert="horz" wrap="square" lIns="0" tIns="0" rIns="0" bIns="0" rtlCol="0">
            <a:noAutofit/>
          </a:bodyPr>
          <a:lstStyle/>
          <a:p>
            <a:r>
              <a:rPr lang="en-US">
                <a:solidFill>
                  <a:srgbClr val="526674"/>
                </a:solidFill>
                <a:latin typeface="Arial" panose="020B0604020202020204" pitchFamily="34" charset="0"/>
              </a:rPr>
              <a:t>Local run on 30 October 2026</a:t>
            </a:r>
            <a:endParaRPr lang="en-IN">
              <a:solidFill>
                <a:srgbClr val="526674"/>
              </a:solidFill>
              <a:latin typeface="Arial" panose="020B0604020202020204" pitchFamily="34" charset="0"/>
            </a:endParaRPr>
          </a:p>
        </p:txBody>
      </p:sp>
      <p:graphicFrame>
        <p:nvGraphicFramePr>
          <p:cNvPr id="7" name="Table 6">
            <a:extLst>
              <a:ext uri="{FF2B5EF4-FFF2-40B4-BE49-F238E27FC236}">
                <a16:creationId xmlns:a16="http://schemas.microsoft.com/office/drawing/2014/main" id="{2B077C2F-057C-6C12-FFE9-5F91C7CEA51D}"/>
              </a:ext>
            </a:extLst>
          </p:cNvPr>
          <p:cNvGraphicFramePr>
            <a:graphicFrameLocks noGrp="1"/>
          </p:cNvGraphicFramePr>
          <p:nvPr>
            <p:extLst>
              <p:ext uri="{D42A27DB-BD31-4B8C-83A1-F6EECF244321}">
                <p14:modId xmlns:p14="http://schemas.microsoft.com/office/powerpoint/2010/main" val="725063055"/>
              </p:ext>
            </p:extLst>
          </p:nvPr>
        </p:nvGraphicFramePr>
        <p:xfrm>
          <a:off x="4533900" y="1638300"/>
          <a:ext cx="7048500" cy="3627120"/>
        </p:xfrm>
        <a:graphic>
          <a:graphicData uri="http://schemas.openxmlformats.org/drawingml/2006/table">
            <a:tbl>
              <a:tblPr firstRow="1" bandRow="1">
                <a:tableStyleId>{5C22544A-7EE6-4342-B048-85BDC9FD1C3A}</a:tableStyleId>
              </a:tblPr>
              <a:tblGrid>
                <a:gridCol w="7048500">
                  <a:extLst>
                    <a:ext uri="{9D8B030D-6E8A-4147-A177-3AD203B41FA5}">
                      <a16:colId xmlns:a16="http://schemas.microsoft.com/office/drawing/2014/main" val="354515423"/>
                    </a:ext>
                  </a:extLst>
                </a:gridCol>
              </a:tblGrid>
              <a:tr h="558800">
                <a:tc>
                  <a:txBody>
                    <a:bodyPr/>
                    <a:lstStyle/>
                    <a:p>
                      <a:r>
                        <a:rPr lang="en-IN" sz="1800" b="1">
                          <a:solidFill>
                            <a:srgbClr val="FFFFFF"/>
                          </a:solidFill>
                          <a:latin typeface="Arial" panose="020B0604020202020204" pitchFamily="34" charset="0"/>
                        </a:rPr>
                        <a:t>Test coverage</a:t>
                      </a: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102B3F"/>
                    </a:solidFill>
                  </a:tcPr>
                </a:tc>
                <a:extLst>
                  <a:ext uri="{0D108BD9-81ED-4DB2-BD59-A6C34878D82A}">
                    <a16:rowId xmlns:a16="http://schemas.microsoft.com/office/drawing/2014/main" val="3023585515"/>
                  </a:ext>
                </a:extLst>
              </a:tr>
              <a:tr h="767080">
                <a:tc>
                  <a:txBody>
                    <a:bodyPr/>
                    <a:lstStyle/>
                    <a:p>
                      <a:r>
                        <a:rPr lang="en-US" sz="1800" b="0">
                          <a:solidFill>
                            <a:srgbClr val="102B3F"/>
                          </a:solidFill>
                          <a:latin typeface="Arial" panose="020B0604020202020204" pitchFamily="34" charset="0"/>
                        </a:rPr>
                        <a:t>Encryption at rest and ciphertext tampering</a:t>
                      </a:r>
                      <a:endParaRPr lang="en-IN" sz="1800" b="0">
                        <a:solidFill>
                          <a:srgbClr val="102B3F"/>
                        </a:solidFill>
                        <a:latin typeface="Arial" panose="020B0604020202020204" pitchFamily="34" charset="0"/>
                      </a:endParaRP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extLst>
                  <a:ext uri="{0D108BD9-81ED-4DB2-BD59-A6C34878D82A}">
                    <a16:rowId xmlns:a16="http://schemas.microsoft.com/office/drawing/2014/main" val="2142779805"/>
                  </a:ext>
                </a:extLst>
              </a:tr>
              <a:tr h="767080">
                <a:tc>
                  <a:txBody>
                    <a:bodyPr/>
                    <a:lstStyle/>
                    <a:p>
                      <a:r>
                        <a:rPr lang="en-US" sz="1800" b="0">
                          <a:solidFill>
                            <a:srgbClr val="102B3F"/>
                          </a:solidFill>
                          <a:latin typeface="Arial" panose="020B0604020202020204" pitchFamily="34" charset="0"/>
                        </a:rPr>
                        <a:t>Authentication, storage metrics and payments</a:t>
                      </a:r>
                      <a:endParaRPr lang="en-IN" sz="1800" b="0">
                        <a:solidFill>
                          <a:srgbClr val="102B3F"/>
                        </a:solidFill>
                        <a:latin typeface="Arial" panose="020B0604020202020204" pitchFamily="34" charset="0"/>
                      </a:endParaRP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extLst>
                  <a:ext uri="{0D108BD9-81ED-4DB2-BD59-A6C34878D82A}">
                    <a16:rowId xmlns:a16="http://schemas.microsoft.com/office/drawing/2014/main" val="3225287837"/>
                  </a:ext>
                </a:extLst>
              </a:tr>
              <a:tr h="767080">
                <a:tc>
                  <a:txBody>
                    <a:bodyPr/>
                    <a:lstStyle/>
                    <a:p>
                      <a:r>
                        <a:rPr lang="en-US" sz="1800" b="0">
                          <a:solidFill>
                            <a:srgbClr val="102B3F"/>
                          </a:solidFill>
                          <a:latin typeface="Arial" panose="020B0604020202020204" pitchFamily="34" charset="0"/>
                        </a:rPr>
                        <a:t>HTTP rejection and strict customer schemas</a:t>
                      </a:r>
                      <a:endParaRPr lang="en-IN" sz="1800" b="0">
                        <a:solidFill>
                          <a:srgbClr val="102B3F"/>
                        </a:solidFill>
                        <a:latin typeface="Arial" panose="020B0604020202020204" pitchFamily="34" charset="0"/>
                      </a:endParaRP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extLst>
                  <a:ext uri="{0D108BD9-81ED-4DB2-BD59-A6C34878D82A}">
                    <a16:rowId xmlns:a16="http://schemas.microsoft.com/office/drawing/2014/main" val="2137044128"/>
                  </a:ext>
                </a:extLst>
              </a:tr>
              <a:tr h="767080">
                <a:tc>
                  <a:txBody>
                    <a:bodyPr/>
                    <a:lstStyle/>
                    <a:p>
                      <a:r>
                        <a:rPr lang="en-US" sz="1800" b="0">
                          <a:solidFill>
                            <a:srgbClr val="102B3F"/>
                          </a:solidFill>
                          <a:latin typeface="Arial" panose="020B0604020202020204" pitchFamily="34" charset="0"/>
                        </a:rPr>
                        <a:t>PKI delivery, password checks and privacy inspection</a:t>
                      </a:r>
                      <a:endParaRPr lang="en-IN" sz="1800" b="0">
                        <a:solidFill>
                          <a:srgbClr val="102B3F"/>
                        </a:solidFill>
                        <a:latin typeface="Arial" panose="020B0604020202020204" pitchFamily="34" charset="0"/>
                      </a:endParaRPr>
                    </a:p>
                  </a:txBody>
                  <a:tcPr marL="152400" marR="152400" marT="114300" marB="88900">
                    <a:lnL w="6350" cmpd="sng">
                      <a:solidFill>
                        <a:srgbClr val="D8DFDF"/>
                      </a:solidFill>
                    </a:lnL>
                    <a:lnR w="6350" cmpd="sng">
                      <a:solidFill>
                        <a:srgbClr val="D8DFDF"/>
                      </a:solidFill>
                    </a:lnR>
                    <a:lnT w="6350" cmpd="sng">
                      <a:solidFill>
                        <a:srgbClr val="D8DFDF"/>
                      </a:solidFill>
                    </a:lnT>
                    <a:lnB w="6350" cmpd="sng">
                      <a:solidFill>
                        <a:srgbClr val="D8DFDF"/>
                      </a:solidFill>
                    </a:lnB>
                    <a:solidFill>
                      <a:srgbClr val="F5F3ED"/>
                    </a:solidFill>
                  </a:tcPr>
                </a:tc>
                <a:extLst>
                  <a:ext uri="{0D108BD9-81ED-4DB2-BD59-A6C34878D82A}">
                    <a16:rowId xmlns:a16="http://schemas.microsoft.com/office/drawing/2014/main" val="2965577752"/>
                  </a:ext>
                </a:extLst>
              </a:tr>
            </a:tbl>
          </a:graphicData>
        </a:graphic>
      </p:graphicFrame>
      <p:sp>
        <p:nvSpPr>
          <p:cNvPr id="8" name="TextBox 7">
            <a:extLst>
              <a:ext uri="{FF2B5EF4-FFF2-40B4-BE49-F238E27FC236}">
                <a16:creationId xmlns:a16="http://schemas.microsoft.com/office/drawing/2014/main" id="{16F5935F-2BF0-9168-AFEE-3C00B052427A}"/>
              </a:ext>
            </a:extLst>
          </p:cNvPr>
          <p:cNvSpPr txBox="1"/>
          <p:nvPr/>
        </p:nvSpPr>
        <p:spPr>
          <a:xfrm>
            <a:off x="609600" y="5829299"/>
            <a:ext cx="10972800" cy="533400"/>
          </a:xfrm>
          <a:prstGeom prst="rect">
            <a:avLst/>
          </a:prstGeom>
          <a:noFill/>
        </p:spPr>
        <p:txBody>
          <a:bodyPr vert="horz" wrap="square" lIns="0" tIns="0" rIns="0" bIns="0" rtlCol="0">
            <a:noAutofit/>
          </a:bodyPr>
          <a:lstStyle/>
          <a:p>
            <a:r>
              <a:rPr lang="en-US">
                <a:solidFill>
                  <a:srgbClr val="526674"/>
                </a:solidFill>
                <a:latin typeface="Arial" panose="020B0604020202020204" pitchFamily="34" charset="0"/>
              </a:rPr>
              <a:t>Functional tests use temporary data. They do not establish production readiness.</a:t>
            </a:r>
            <a:endParaRPr lang="en-IN">
              <a:solidFill>
                <a:srgbClr val="526674"/>
              </a:solidFill>
              <a:latin typeface="Arial" panose="020B0604020202020204" pitchFamily="34" charset="0"/>
            </a:endParaRPr>
          </a:p>
        </p:txBody>
      </p:sp>
    </p:spTree>
    <p:extLst>
      <p:ext uri="{BB962C8B-B14F-4D97-AF65-F5344CB8AC3E}">
        <p14:creationId xmlns:p14="http://schemas.microsoft.com/office/powerpoint/2010/main" val="32367560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02B3F"/>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D9411CF-AB50-EBC6-E43C-04CD23C67304}"/>
              </a:ext>
            </a:extLst>
          </p:cNvPr>
          <p:cNvSpPr txBox="1"/>
          <p:nvPr/>
        </p:nvSpPr>
        <p:spPr>
          <a:xfrm>
            <a:off x="609600" y="482599"/>
            <a:ext cx="10972800" cy="863600"/>
          </a:xfrm>
          <a:prstGeom prst="rect">
            <a:avLst/>
          </a:prstGeom>
          <a:noFill/>
        </p:spPr>
        <p:txBody>
          <a:bodyPr vert="horz" wrap="square" lIns="0" tIns="0" rIns="0" bIns="0" rtlCol="0">
            <a:noAutofit/>
          </a:bodyPr>
          <a:lstStyle/>
          <a:p>
            <a:r>
              <a:rPr lang="en-IN" sz="3200" b="1">
                <a:solidFill>
                  <a:srgbClr val="F5F3ED"/>
                </a:solidFill>
                <a:latin typeface="Arial" panose="020B0604020202020204" pitchFamily="34" charset="0"/>
              </a:rPr>
              <a:t>Live demonstration</a:t>
            </a:r>
          </a:p>
        </p:txBody>
      </p:sp>
      <p:sp>
        <p:nvSpPr>
          <p:cNvPr id="3" name="TextBox 2">
            <a:extLst>
              <a:ext uri="{FF2B5EF4-FFF2-40B4-BE49-F238E27FC236}">
                <a16:creationId xmlns:a16="http://schemas.microsoft.com/office/drawing/2014/main" id="{499B4B41-1818-F285-A154-CAC95FA44454}"/>
              </a:ext>
            </a:extLst>
          </p:cNvPr>
          <p:cNvSpPr txBox="1"/>
          <p:nvPr/>
        </p:nvSpPr>
        <p:spPr>
          <a:xfrm>
            <a:off x="11049000" y="6388100"/>
            <a:ext cx="508000" cy="254000"/>
          </a:xfrm>
          <a:prstGeom prst="rect">
            <a:avLst/>
          </a:prstGeom>
          <a:noFill/>
        </p:spPr>
        <p:txBody>
          <a:bodyPr vert="horz" wrap="square" lIns="0" tIns="0" rIns="0" bIns="0" rtlCol="0">
            <a:noAutofit/>
          </a:bodyPr>
          <a:lstStyle/>
          <a:p>
            <a:r>
              <a:rPr lang="en-IN" sz="1100">
                <a:solidFill>
                  <a:srgbClr val="6BD4C3"/>
                </a:solidFill>
                <a:latin typeface="Arial" panose="020B0604020202020204" pitchFamily="34" charset="0"/>
              </a:rPr>
              <a:t>12</a:t>
            </a:r>
          </a:p>
        </p:txBody>
      </p:sp>
      <p:sp>
        <p:nvSpPr>
          <p:cNvPr id="4" name="TextBox 3">
            <a:extLst>
              <a:ext uri="{FF2B5EF4-FFF2-40B4-BE49-F238E27FC236}">
                <a16:creationId xmlns:a16="http://schemas.microsoft.com/office/drawing/2014/main" id="{C6FFC049-2BD3-CEAB-FE74-DC2F6119FF99}"/>
              </a:ext>
            </a:extLst>
          </p:cNvPr>
          <p:cNvSpPr txBox="1"/>
          <p:nvPr/>
        </p:nvSpPr>
        <p:spPr>
          <a:xfrm>
            <a:off x="609600" y="1650999"/>
            <a:ext cx="2895600" cy="736600"/>
          </a:xfrm>
          <a:prstGeom prst="rect">
            <a:avLst/>
          </a:prstGeom>
          <a:noFill/>
        </p:spPr>
        <p:txBody>
          <a:bodyPr vert="horz" wrap="square" lIns="0" tIns="0" rIns="0" bIns="0" rtlCol="0">
            <a:noAutofit/>
          </a:bodyPr>
          <a:lstStyle/>
          <a:p>
            <a:r>
              <a:rPr lang="en-IN" sz="2100" b="1">
                <a:solidFill>
                  <a:srgbClr val="6BD4C3"/>
                </a:solidFill>
                <a:latin typeface="Arial" panose="020B0604020202020204" pitchFamily="34" charset="0"/>
              </a:rPr>
              <a:t>01  Dashboard</a:t>
            </a:r>
          </a:p>
        </p:txBody>
      </p:sp>
      <p:sp>
        <p:nvSpPr>
          <p:cNvPr id="5" name="TextBox 4">
            <a:extLst>
              <a:ext uri="{FF2B5EF4-FFF2-40B4-BE49-F238E27FC236}">
                <a16:creationId xmlns:a16="http://schemas.microsoft.com/office/drawing/2014/main" id="{752F968E-84DC-8787-AE4C-A2A2837E47F5}"/>
              </a:ext>
            </a:extLst>
          </p:cNvPr>
          <p:cNvSpPr txBox="1"/>
          <p:nvPr/>
        </p:nvSpPr>
        <p:spPr>
          <a:xfrm>
            <a:off x="3873500" y="1650999"/>
            <a:ext cx="7581900" cy="914400"/>
          </a:xfrm>
          <a:prstGeom prst="rect">
            <a:avLst/>
          </a:prstGeom>
          <a:noFill/>
        </p:spPr>
        <p:txBody>
          <a:bodyPr vert="horz" wrap="square" lIns="0" tIns="0" rIns="0" bIns="0" rtlCol="0">
            <a:noAutofit/>
          </a:bodyPr>
          <a:lstStyle/>
          <a:p>
            <a:r>
              <a:rPr lang="en-US" sz="2100">
                <a:solidFill>
                  <a:srgbClr val="F5F3ED"/>
                </a:solidFill>
                <a:latin typeface="Arial" panose="020B0604020202020204" pitchFamily="34" charset="0"/>
              </a:rPr>
              <a:t>Sign in, compare stored ciphertext with the authorized readable view, and add a customer.</a:t>
            </a:r>
            <a:endParaRPr lang="en-IN" sz="2100">
              <a:solidFill>
                <a:srgbClr val="F5F3ED"/>
              </a:solidFill>
              <a:latin typeface="Arial" panose="020B0604020202020204" pitchFamily="34" charset="0"/>
            </a:endParaRPr>
          </a:p>
        </p:txBody>
      </p:sp>
      <p:sp>
        <p:nvSpPr>
          <p:cNvPr id="6" name="TextBox 5">
            <a:extLst>
              <a:ext uri="{FF2B5EF4-FFF2-40B4-BE49-F238E27FC236}">
                <a16:creationId xmlns:a16="http://schemas.microsoft.com/office/drawing/2014/main" id="{E38FBB5F-B6AF-F0AF-0753-2B86E99E24CA}"/>
              </a:ext>
            </a:extLst>
          </p:cNvPr>
          <p:cNvSpPr txBox="1"/>
          <p:nvPr/>
        </p:nvSpPr>
        <p:spPr>
          <a:xfrm>
            <a:off x="609600" y="2832099"/>
            <a:ext cx="2895600" cy="736600"/>
          </a:xfrm>
          <a:prstGeom prst="rect">
            <a:avLst/>
          </a:prstGeom>
          <a:noFill/>
        </p:spPr>
        <p:txBody>
          <a:bodyPr vert="horz" wrap="square" lIns="0" tIns="0" rIns="0" bIns="0" rtlCol="0">
            <a:noAutofit/>
          </a:bodyPr>
          <a:lstStyle/>
          <a:p>
            <a:r>
              <a:rPr lang="en-IN" sz="2100" b="1">
                <a:solidFill>
                  <a:srgbClr val="6BD4C3"/>
                </a:solidFill>
                <a:latin typeface="Arial" panose="020B0604020202020204" pitchFamily="34" charset="0"/>
              </a:rPr>
              <a:t>02  Security labs</a:t>
            </a:r>
          </a:p>
        </p:txBody>
      </p:sp>
      <p:sp>
        <p:nvSpPr>
          <p:cNvPr id="7" name="TextBox 6">
            <a:extLst>
              <a:ext uri="{FF2B5EF4-FFF2-40B4-BE49-F238E27FC236}">
                <a16:creationId xmlns:a16="http://schemas.microsoft.com/office/drawing/2014/main" id="{EFBF2A24-531A-BFF4-F5B2-E8701FD15D16}"/>
              </a:ext>
            </a:extLst>
          </p:cNvPr>
          <p:cNvSpPr txBox="1"/>
          <p:nvPr/>
        </p:nvSpPr>
        <p:spPr>
          <a:xfrm>
            <a:off x="3873500" y="2832099"/>
            <a:ext cx="7581900" cy="914400"/>
          </a:xfrm>
          <a:prstGeom prst="rect">
            <a:avLst/>
          </a:prstGeom>
          <a:noFill/>
        </p:spPr>
        <p:txBody>
          <a:bodyPr vert="horz" wrap="square" lIns="0" tIns="0" rIns="0" bIns="0" rtlCol="0">
            <a:noAutofit/>
          </a:bodyPr>
          <a:lstStyle/>
          <a:p>
            <a:r>
              <a:rPr lang="en-US" sz="2100">
                <a:solidFill>
                  <a:srgbClr val="F5F3ED"/>
                </a:solidFill>
                <a:latin typeface="Arial" panose="020B0604020202020204" pitchFamily="34" charset="0"/>
              </a:rPr>
              <a:t>Run encryption and PKI delivery once normally, then repeat with tampering enabled.</a:t>
            </a:r>
            <a:endParaRPr lang="en-IN" sz="2100">
              <a:solidFill>
                <a:srgbClr val="F5F3ED"/>
              </a:solidFill>
              <a:latin typeface="Arial" panose="020B0604020202020204" pitchFamily="34" charset="0"/>
            </a:endParaRPr>
          </a:p>
        </p:txBody>
      </p:sp>
      <p:sp>
        <p:nvSpPr>
          <p:cNvPr id="8" name="TextBox 7">
            <a:extLst>
              <a:ext uri="{FF2B5EF4-FFF2-40B4-BE49-F238E27FC236}">
                <a16:creationId xmlns:a16="http://schemas.microsoft.com/office/drawing/2014/main" id="{7C41B578-3C32-0883-1A7C-AA82B6D340CC}"/>
              </a:ext>
            </a:extLst>
          </p:cNvPr>
          <p:cNvSpPr txBox="1"/>
          <p:nvPr/>
        </p:nvSpPr>
        <p:spPr>
          <a:xfrm>
            <a:off x="609600" y="4013199"/>
            <a:ext cx="2895600" cy="736600"/>
          </a:xfrm>
          <a:prstGeom prst="rect">
            <a:avLst/>
          </a:prstGeom>
          <a:noFill/>
        </p:spPr>
        <p:txBody>
          <a:bodyPr vert="horz" wrap="square" lIns="0" tIns="0" rIns="0" bIns="0" rtlCol="0">
            <a:noAutofit/>
          </a:bodyPr>
          <a:lstStyle/>
          <a:p>
            <a:r>
              <a:rPr lang="en-IN" sz="2100" b="1">
                <a:solidFill>
                  <a:srgbClr val="6BD4C3"/>
                </a:solidFill>
                <a:latin typeface="Arial" panose="020B0604020202020204" pitchFamily="34" charset="0"/>
              </a:rPr>
              <a:t>03  Privacy checks</a:t>
            </a:r>
          </a:p>
        </p:txBody>
      </p:sp>
      <p:sp>
        <p:nvSpPr>
          <p:cNvPr id="9" name="TextBox 8">
            <a:extLst>
              <a:ext uri="{FF2B5EF4-FFF2-40B4-BE49-F238E27FC236}">
                <a16:creationId xmlns:a16="http://schemas.microsoft.com/office/drawing/2014/main" id="{E8115AD8-834B-7531-68C5-A5B796B41A4D}"/>
              </a:ext>
            </a:extLst>
          </p:cNvPr>
          <p:cNvSpPr txBox="1"/>
          <p:nvPr/>
        </p:nvSpPr>
        <p:spPr>
          <a:xfrm>
            <a:off x="3873500" y="4013199"/>
            <a:ext cx="7581900" cy="914400"/>
          </a:xfrm>
          <a:prstGeom prst="rect">
            <a:avLst/>
          </a:prstGeom>
          <a:noFill/>
        </p:spPr>
        <p:txBody>
          <a:bodyPr vert="horz" wrap="square" lIns="0" tIns="0" rIns="0" bIns="0" rtlCol="0">
            <a:noAutofit/>
          </a:bodyPr>
          <a:lstStyle/>
          <a:p>
            <a:r>
              <a:rPr lang="en-US" sz="2100">
                <a:solidFill>
                  <a:srgbClr val="F5F3ED"/>
                </a:solidFill>
                <a:latin typeface="Arial" panose="020B0604020202020204" pitchFamily="34" charset="0"/>
              </a:rPr>
              <a:t>Compare an excessive candidate payload with the minimal payment fields.</a:t>
            </a:r>
            <a:endParaRPr lang="en-IN" sz="2100">
              <a:solidFill>
                <a:srgbClr val="F5F3ED"/>
              </a:solidFill>
              <a:latin typeface="Arial" panose="020B0604020202020204" pitchFamily="34" charset="0"/>
            </a:endParaRPr>
          </a:p>
        </p:txBody>
      </p:sp>
      <p:sp>
        <p:nvSpPr>
          <p:cNvPr id="10" name="TextBox 9">
            <a:extLst>
              <a:ext uri="{FF2B5EF4-FFF2-40B4-BE49-F238E27FC236}">
                <a16:creationId xmlns:a16="http://schemas.microsoft.com/office/drawing/2014/main" id="{26D5F169-56FC-43D7-3865-D21CAB6238C2}"/>
              </a:ext>
            </a:extLst>
          </p:cNvPr>
          <p:cNvSpPr txBox="1"/>
          <p:nvPr/>
        </p:nvSpPr>
        <p:spPr>
          <a:xfrm>
            <a:off x="609600" y="5194299"/>
            <a:ext cx="2895600" cy="736600"/>
          </a:xfrm>
          <a:prstGeom prst="rect">
            <a:avLst/>
          </a:prstGeom>
          <a:noFill/>
        </p:spPr>
        <p:txBody>
          <a:bodyPr vert="horz" wrap="square" lIns="0" tIns="0" rIns="0" bIns="0" rtlCol="0">
            <a:noAutofit/>
          </a:bodyPr>
          <a:lstStyle/>
          <a:p>
            <a:r>
              <a:rPr lang="en-IN" sz="2100" b="1">
                <a:solidFill>
                  <a:srgbClr val="6BD4C3"/>
                </a:solidFill>
                <a:latin typeface="Arial" panose="020B0604020202020204" pitchFamily="34" charset="0"/>
              </a:rPr>
              <a:t>04  Payment evidence</a:t>
            </a:r>
          </a:p>
        </p:txBody>
      </p:sp>
      <p:sp>
        <p:nvSpPr>
          <p:cNvPr id="11" name="TextBox 10">
            <a:extLst>
              <a:ext uri="{FF2B5EF4-FFF2-40B4-BE49-F238E27FC236}">
                <a16:creationId xmlns:a16="http://schemas.microsoft.com/office/drawing/2014/main" id="{52BA2C35-ED8F-A5C6-02DB-29AD9241B1CA}"/>
              </a:ext>
            </a:extLst>
          </p:cNvPr>
          <p:cNvSpPr txBox="1"/>
          <p:nvPr/>
        </p:nvSpPr>
        <p:spPr>
          <a:xfrm>
            <a:off x="3873500" y="5194299"/>
            <a:ext cx="7581900" cy="914400"/>
          </a:xfrm>
          <a:prstGeom prst="rect">
            <a:avLst/>
          </a:prstGeom>
          <a:noFill/>
        </p:spPr>
        <p:txBody>
          <a:bodyPr vert="horz" wrap="square" lIns="0" tIns="0" rIns="0" bIns="0" rtlCol="0">
            <a:noAutofit/>
          </a:bodyPr>
          <a:lstStyle/>
          <a:p>
            <a:r>
              <a:rPr lang="en-US" sz="2100">
                <a:solidFill>
                  <a:srgbClr val="F5F3ED"/>
                </a:solidFill>
                <a:latin typeface="Arial" panose="020B0604020202020204" pitchFamily="34" charset="0"/>
              </a:rPr>
              <a:t>Create a simulated payment and inspect its token, signature, and audit event.</a:t>
            </a:r>
            <a:endParaRPr lang="en-IN" sz="2100">
              <a:solidFill>
                <a:srgbClr val="F5F3ED"/>
              </a:solidFill>
              <a:latin typeface="Arial" panose="020B0604020202020204" pitchFamily="34" charset="0"/>
            </a:endParaRPr>
          </a:p>
        </p:txBody>
      </p:sp>
    </p:spTree>
    <p:extLst>
      <p:ext uri="{BB962C8B-B14F-4D97-AF65-F5344CB8AC3E}">
        <p14:creationId xmlns:p14="http://schemas.microsoft.com/office/powerpoint/2010/main" val="6538182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59446C3-21A1-D845-A3EC-59FF4B30F2DB}"/>
              </a:ext>
            </a:extLst>
          </p:cNvPr>
          <p:cNvSpPr txBox="1"/>
          <p:nvPr/>
        </p:nvSpPr>
        <p:spPr>
          <a:xfrm>
            <a:off x="609600" y="482599"/>
            <a:ext cx="10972800" cy="863600"/>
          </a:xfrm>
          <a:prstGeom prst="rect">
            <a:avLst/>
          </a:prstGeom>
          <a:noFill/>
        </p:spPr>
        <p:txBody>
          <a:bodyPr vert="horz" wrap="square" lIns="0" tIns="0" rIns="0" bIns="0" rtlCol="0">
            <a:noAutofit/>
          </a:bodyPr>
          <a:lstStyle/>
          <a:p>
            <a:r>
              <a:rPr lang="en-US" sz="3200" b="1">
                <a:solidFill>
                  <a:srgbClr val="102B3F"/>
                </a:solidFill>
                <a:latin typeface="Arial" panose="020B0604020202020204" pitchFamily="34" charset="0"/>
              </a:rPr>
              <a:t>Running the project on Windows</a:t>
            </a:r>
            <a:endParaRPr lang="en-IN" sz="3200" b="1">
              <a:solidFill>
                <a:srgbClr val="102B3F"/>
              </a:solidFill>
              <a:latin typeface="Arial" panose="020B0604020202020204" pitchFamily="34" charset="0"/>
            </a:endParaRPr>
          </a:p>
        </p:txBody>
      </p:sp>
      <p:sp>
        <p:nvSpPr>
          <p:cNvPr id="3" name="TextBox 2">
            <a:extLst>
              <a:ext uri="{FF2B5EF4-FFF2-40B4-BE49-F238E27FC236}">
                <a16:creationId xmlns:a16="http://schemas.microsoft.com/office/drawing/2014/main" id="{1F1034C9-7799-7D96-66BD-630614755559}"/>
              </a:ext>
            </a:extLst>
          </p:cNvPr>
          <p:cNvSpPr txBox="1"/>
          <p:nvPr/>
        </p:nvSpPr>
        <p:spPr>
          <a:xfrm>
            <a:off x="11049000" y="6388100"/>
            <a:ext cx="508000" cy="254000"/>
          </a:xfrm>
          <a:prstGeom prst="rect">
            <a:avLst/>
          </a:prstGeom>
          <a:noFill/>
        </p:spPr>
        <p:txBody>
          <a:bodyPr vert="horz" wrap="square" lIns="0" tIns="0" rIns="0" bIns="0" rtlCol="0">
            <a:noAutofit/>
          </a:bodyPr>
          <a:lstStyle/>
          <a:p>
            <a:r>
              <a:rPr lang="en-IN" sz="1100">
                <a:solidFill>
                  <a:srgbClr val="526674"/>
                </a:solidFill>
                <a:latin typeface="Arial" panose="020B0604020202020204" pitchFamily="34" charset="0"/>
              </a:rPr>
              <a:t>13</a:t>
            </a:r>
          </a:p>
        </p:txBody>
      </p:sp>
      <p:sp>
        <p:nvSpPr>
          <p:cNvPr id="4" name="TextBox 3">
            <a:extLst>
              <a:ext uri="{FF2B5EF4-FFF2-40B4-BE49-F238E27FC236}">
                <a16:creationId xmlns:a16="http://schemas.microsoft.com/office/drawing/2014/main" id="{3148C37A-846B-4EE3-06A8-09FB8AB58A22}"/>
              </a:ext>
            </a:extLst>
          </p:cNvPr>
          <p:cNvSpPr txBox="1"/>
          <p:nvPr/>
        </p:nvSpPr>
        <p:spPr>
          <a:xfrm>
            <a:off x="609600" y="1498599"/>
            <a:ext cx="10972800" cy="406400"/>
          </a:xfrm>
          <a:prstGeom prst="rect">
            <a:avLst/>
          </a:prstGeom>
          <a:noFill/>
        </p:spPr>
        <p:txBody>
          <a:bodyPr vert="horz" wrap="square" lIns="0" tIns="0" rIns="0" bIns="0" rtlCol="0">
            <a:noAutofit/>
          </a:bodyPr>
          <a:lstStyle/>
          <a:p>
            <a:r>
              <a:rPr lang="en-US" sz="2200" b="1">
                <a:solidFill>
                  <a:srgbClr val="087F83"/>
                </a:solidFill>
                <a:latin typeface="Arial" panose="020B0604020202020204" pitchFamily="34" charset="0"/>
              </a:rPr>
              <a:t>Initial setup in the project folder</a:t>
            </a:r>
            <a:endParaRPr lang="en-IN" sz="2200" b="1">
              <a:solidFill>
                <a:srgbClr val="087F83"/>
              </a:solidFill>
              <a:latin typeface="Arial" panose="020B0604020202020204" pitchFamily="34" charset="0"/>
            </a:endParaRPr>
          </a:p>
        </p:txBody>
      </p:sp>
      <p:sp>
        <p:nvSpPr>
          <p:cNvPr id="5" name="TextBox 4">
            <a:extLst>
              <a:ext uri="{FF2B5EF4-FFF2-40B4-BE49-F238E27FC236}">
                <a16:creationId xmlns:a16="http://schemas.microsoft.com/office/drawing/2014/main" id="{2190095C-7A89-97FD-681F-080672649618}"/>
              </a:ext>
            </a:extLst>
          </p:cNvPr>
          <p:cNvSpPr txBox="1"/>
          <p:nvPr/>
        </p:nvSpPr>
        <p:spPr>
          <a:xfrm>
            <a:off x="609600" y="2082799"/>
            <a:ext cx="10972800" cy="1333500"/>
          </a:xfrm>
          <a:prstGeom prst="rect">
            <a:avLst/>
          </a:prstGeom>
          <a:noFill/>
        </p:spPr>
        <p:txBody>
          <a:bodyPr vert="horz" wrap="square" lIns="0" tIns="0" rIns="0" bIns="0" rtlCol="0">
            <a:noAutofit/>
          </a:bodyPr>
          <a:lstStyle/>
          <a:p>
            <a:r>
              <a:rPr lang="en-IN" sz="1700">
                <a:solidFill>
                  <a:srgbClr val="102B3F"/>
                </a:solidFill>
                <a:latin typeface="Arial" panose="020B0604020202020204" pitchFamily="34" charset="0"/>
              </a:rPr>
              <a:t>py -3.13 -m venv .venv</a:t>
            </a:r>
          </a:p>
          <a:p>
            <a:r>
              <a:rPr lang="en-IN" sz="1700">
                <a:solidFill>
                  <a:srgbClr val="102B3F"/>
                </a:solidFill>
                <a:latin typeface="Arial" panose="020B0604020202020204" pitchFamily="34" charset="0"/>
              </a:rPr>
              <a:t>.\.venv\Scripts\python.exe -m pip install -r requirements.txt</a:t>
            </a:r>
          </a:p>
          <a:p>
            <a:r>
              <a:rPr lang="en-IN" sz="1700">
                <a:solidFill>
                  <a:srgbClr val="102B3F"/>
                </a:solidFill>
                <a:latin typeface="Arial" panose="020B0604020202020204" pitchFamily="34" charset="0"/>
              </a:rPr>
              <a:t>.\.venv\Scripts\python.exe -m app.setup</a:t>
            </a:r>
          </a:p>
        </p:txBody>
      </p:sp>
      <p:sp>
        <p:nvSpPr>
          <p:cNvPr id="6" name="TextBox 5">
            <a:extLst>
              <a:ext uri="{FF2B5EF4-FFF2-40B4-BE49-F238E27FC236}">
                <a16:creationId xmlns:a16="http://schemas.microsoft.com/office/drawing/2014/main" id="{1285C254-14B5-C7FA-836C-43C81595A31D}"/>
              </a:ext>
            </a:extLst>
          </p:cNvPr>
          <p:cNvSpPr txBox="1"/>
          <p:nvPr/>
        </p:nvSpPr>
        <p:spPr>
          <a:xfrm>
            <a:off x="609600" y="3555999"/>
            <a:ext cx="10972800" cy="406400"/>
          </a:xfrm>
          <a:prstGeom prst="rect">
            <a:avLst/>
          </a:prstGeom>
          <a:noFill/>
        </p:spPr>
        <p:txBody>
          <a:bodyPr vert="horz" wrap="square" lIns="0" tIns="0" rIns="0" bIns="0" rtlCol="0">
            <a:noAutofit/>
          </a:bodyPr>
          <a:lstStyle/>
          <a:p>
            <a:r>
              <a:rPr lang="en-IN" sz="2200" b="1">
                <a:solidFill>
                  <a:srgbClr val="087F83"/>
                </a:solidFill>
                <a:latin typeface="Arial" panose="020B0604020202020204" pitchFamily="34" charset="0"/>
              </a:rPr>
              <a:t>Start the HTTPS server</a:t>
            </a:r>
          </a:p>
        </p:txBody>
      </p:sp>
      <p:sp>
        <p:nvSpPr>
          <p:cNvPr id="7" name="TextBox 6">
            <a:extLst>
              <a:ext uri="{FF2B5EF4-FFF2-40B4-BE49-F238E27FC236}">
                <a16:creationId xmlns:a16="http://schemas.microsoft.com/office/drawing/2014/main" id="{464633F3-AC15-4592-B6F8-D5EB785E9202}"/>
              </a:ext>
            </a:extLst>
          </p:cNvPr>
          <p:cNvSpPr txBox="1"/>
          <p:nvPr/>
        </p:nvSpPr>
        <p:spPr>
          <a:xfrm>
            <a:off x="609600" y="4102099"/>
            <a:ext cx="10972800" cy="1193800"/>
          </a:xfrm>
          <a:prstGeom prst="rect">
            <a:avLst/>
          </a:prstGeom>
          <a:noFill/>
        </p:spPr>
        <p:txBody>
          <a:bodyPr vert="horz" wrap="square" lIns="0" tIns="0" rIns="0" bIns="0" rtlCol="0">
            <a:noAutofit/>
          </a:bodyPr>
          <a:lstStyle/>
          <a:p>
            <a:r>
              <a:rPr lang="en-IN" sz="1700">
                <a:solidFill>
                  <a:srgbClr val="102B3F"/>
                </a:solidFill>
                <a:latin typeface="Arial" panose="020B0604020202020204" pitchFamily="34" charset="0"/>
              </a:rPr>
              <a:t>.\.venv\Scripts\python.exe -m uvicorn app.main:app `</a:t>
            </a:r>
          </a:p>
          <a:p>
            <a:r>
              <a:rPr lang="en-IN" sz="1700">
                <a:solidFill>
                  <a:srgbClr val="102B3F"/>
                </a:solidFill>
                <a:latin typeface="Arial" panose="020B0604020202020204" pitchFamily="34" charset="0"/>
              </a:rPr>
              <a:t>  --host 127.0.0.1 --port 8443 `</a:t>
            </a:r>
          </a:p>
          <a:p>
            <a:r>
              <a:rPr lang="en-IN" sz="1700">
                <a:solidFill>
                  <a:srgbClr val="102B3F"/>
                </a:solidFill>
                <a:latin typeface="Arial" panose="020B0604020202020204" pitchFamily="34" charset="0"/>
              </a:rPr>
              <a:t>  --ssl-keyfile .secrets/server-key.pem --ssl-certfile .secrets/server.pem</a:t>
            </a:r>
          </a:p>
        </p:txBody>
      </p:sp>
      <p:sp>
        <p:nvSpPr>
          <p:cNvPr id="8" name="TextBox 7">
            <a:extLst>
              <a:ext uri="{FF2B5EF4-FFF2-40B4-BE49-F238E27FC236}">
                <a16:creationId xmlns:a16="http://schemas.microsoft.com/office/drawing/2014/main" id="{1C43818C-E662-91B9-D125-571BDF15FD20}"/>
              </a:ext>
            </a:extLst>
          </p:cNvPr>
          <p:cNvSpPr txBox="1"/>
          <p:nvPr/>
        </p:nvSpPr>
        <p:spPr>
          <a:xfrm>
            <a:off x="609600" y="5587999"/>
            <a:ext cx="10972800" cy="736600"/>
          </a:xfrm>
          <a:prstGeom prst="rect">
            <a:avLst/>
          </a:prstGeom>
          <a:noFill/>
        </p:spPr>
        <p:txBody>
          <a:bodyPr vert="horz" wrap="square" lIns="0" tIns="0" rIns="0" bIns="0" rtlCol="0">
            <a:noAutofit/>
          </a:bodyPr>
          <a:lstStyle/>
          <a:p>
            <a:r>
              <a:rPr lang="en-US" sz="2000" b="1">
                <a:solidFill>
                  <a:srgbClr val="102B3F"/>
                </a:solidFill>
                <a:latin typeface="Arial" panose="020B0604020202020204" pitchFamily="34" charset="0"/>
              </a:rPr>
              <a:t>Open https://127.0.0.1:8443 and log in as admin with the password printed by setup.</a:t>
            </a:r>
            <a:endParaRPr lang="en-IN" sz="2000" b="1">
              <a:solidFill>
                <a:srgbClr val="102B3F"/>
              </a:solidFill>
              <a:latin typeface="Arial" panose="020B0604020202020204" pitchFamily="34" charset="0"/>
            </a:endParaRPr>
          </a:p>
        </p:txBody>
      </p:sp>
    </p:spTree>
    <p:extLst>
      <p:ext uri="{BB962C8B-B14F-4D97-AF65-F5344CB8AC3E}">
        <p14:creationId xmlns:p14="http://schemas.microsoft.com/office/powerpoint/2010/main" val="35760405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3E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2D77E8E-C06E-E6DA-CA91-03E0F43F8756}"/>
              </a:ext>
            </a:extLst>
          </p:cNvPr>
          <p:cNvSpPr txBox="1"/>
          <p:nvPr/>
        </p:nvSpPr>
        <p:spPr>
          <a:xfrm>
            <a:off x="609600" y="482599"/>
            <a:ext cx="10972800" cy="863600"/>
          </a:xfrm>
          <a:prstGeom prst="rect">
            <a:avLst/>
          </a:prstGeom>
          <a:noFill/>
        </p:spPr>
        <p:txBody>
          <a:bodyPr vert="horz" wrap="square" lIns="0" tIns="0" rIns="0" bIns="0" rtlCol="0">
            <a:noAutofit/>
          </a:bodyPr>
          <a:lstStyle/>
          <a:p>
            <a:r>
              <a:rPr lang="en-US" sz="3200" b="1">
                <a:solidFill>
                  <a:srgbClr val="102B3F"/>
                </a:solidFill>
                <a:latin typeface="Arial" panose="020B0604020202020204" pitchFamily="34" charset="0"/>
              </a:rPr>
              <a:t>Project scope and next steps</a:t>
            </a:r>
            <a:endParaRPr lang="en-IN" sz="3200" b="1">
              <a:solidFill>
                <a:srgbClr val="102B3F"/>
              </a:solidFill>
              <a:latin typeface="Arial" panose="020B0604020202020204" pitchFamily="34" charset="0"/>
            </a:endParaRPr>
          </a:p>
        </p:txBody>
      </p:sp>
      <p:sp>
        <p:nvSpPr>
          <p:cNvPr id="3" name="TextBox 2">
            <a:extLst>
              <a:ext uri="{FF2B5EF4-FFF2-40B4-BE49-F238E27FC236}">
                <a16:creationId xmlns:a16="http://schemas.microsoft.com/office/drawing/2014/main" id="{5901F3B0-538E-A4EE-C845-5180698B1461}"/>
              </a:ext>
            </a:extLst>
          </p:cNvPr>
          <p:cNvSpPr txBox="1"/>
          <p:nvPr/>
        </p:nvSpPr>
        <p:spPr>
          <a:xfrm>
            <a:off x="11049000" y="6388100"/>
            <a:ext cx="508000" cy="254000"/>
          </a:xfrm>
          <a:prstGeom prst="rect">
            <a:avLst/>
          </a:prstGeom>
          <a:noFill/>
        </p:spPr>
        <p:txBody>
          <a:bodyPr vert="horz" wrap="square" lIns="0" tIns="0" rIns="0" bIns="0" rtlCol="0">
            <a:noAutofit/>
          </a:bodyPr>
          <a:lstStyle/>
          <a:p>
            <a:r>
              <a:rPr lang="en-IN" sz="1100">
                <a:solidFill>
                  <a:srgbClr val="526674"/>
                </a:solidFill>
                <a:latin typeface="Arial" panose="020B0604020202020204" pitchFamily="34" charset="0"/>
              </a:rPr>
              <a:t>14</a:t>
            </a:r>
          </a:p>
        </p:txBody>
      </p:sp>
      <p:sp>
        <p:nvSpPr>
          <p:cNvPr id="4" name="TextBox 3">
            <a:extLst>
              <a:ext uri="{FF2B5EF4-FFF2-40B4-BE49-F238E27FC236}">
                <a16:creationId xmlns:a16="http://schemas.microsoft.com/office/drawing/2014/main" id="{BCDF56F1-D13B-625A-E351-564EE0946202}"/>
              </a:ext>
            </a:extLst>
          </p:cNvPr>
          <p:cNvSpPr txBox="1"/>
          <p:nvPr/>
        </p:nvSpPr>
        <p:spPr>
          <a:xfrm>
            <a:off x="609600" y="1587499"/>
            <a:ext cx="10972800" cy="457200"/>
          </a:xfrm>
          <a:prstGeom prst="rect">
            <a:avLst/>
          </a:prstGeom>
          <a:noFill/>
        </p:spPr>
        <p:txBody>
          <a:bodyPr vert="horz" wrap="square" lIns="0" tIns="0" rIns="0" bIns="0" rtlCol="0">
            <a:noAutofit/>
          </a:bodyPr>
          <a:lstStyle/>
          <a:p>
            <a:r>
              <a:rPr lang="en-IN" sz="2500" b="1">
                <a:solidFill>
                  <a:srgbClr val="087F83"/>
                </a:solidFill>
                <a:latin typeface="Arial" panose="020B0604020202020204" pitchFamily="34" charset="0"/>
              </a:rPr>
              <a:t>Implemented learning outcome</a:t>
            </a:r>
          </a:p>
        </p:txBody>
      </p:sp>
      <p:sp>
        <p:nvSpPr>
          <p:cNvPr id="5" name="TextBox 4">
            <a:extLst>
              <a:ext uri="{FF2B5EF4-FFF2-40B4-BE49-F238E27FC236}">
                <a16:creationId xmlns:a16="http://schemas.microsoft.com/office/drawing/2014/main" id="{09B3DD99-DA0C-E45B-40EF-9041ECF96F78}"/>
              </a:ext>
            </a:extLst>
          </p:cNvPr>
          <p:cNvSpPr txBox="1"/>
          <p:nvPr/>
        </p:nvSpPr>
        <p:spPr>
          <a:xfrm>
            <a:off x="609600" y="2285999"/>
            <a:ext cx="10972800" cy="990600"/>
          </a:xfrm>
          <a:prstGeom prst="rect">
            <a:avLst/>
          </a:prstGeom>
          <a:noFill/>
        </p:spPr>
        <p:txBody>
          <a:bodyPr vert="horz" wrap="square" lIns="0" tIns="0" rIns="0" bIns="0" rtlCol="0">
            <a:noAutofit/>
          </a:bodyPr>
          <a:lstStyle/>
          <a:p>
            <a:r>
              <a:rPr lang="en-US" sz="2500">
                <a:solidFill>
                  <a:srgbClr val="102B3F"/>
                </a:solidFill>
                <a:latin typeface="Arial" panose="020B0604020202020204" pitchFamily="34" charset="0"/>
              </a:rPr>
              <a:t>The simulator makes protection visible through encrypted storage, integrity failures, certificate checks, and minimal request schemas.</a:t>
            </a:r>
            <a:endParaRPr lang="en-IN" sz="2500">
              <a:solidFill>
                <a:srgbClr val="102B3F"/>
              </a:solidFill>
              <a:latin typeface="Arial" panose="020B0604020202020204" pitchFamily="34" charset="0"/>
            </a:endParaRPr>
          </a:p>
        </p:txBody>
      </p:sp>
      <p:sp>
        <p:nvSpPr>
          <p:cNvPr id="6" name="TextBox 5">
            <a:extLst>
              <a:ext uri="{FF2B5EF4-FFF2-40B4-BE49-F238E27FC236}">
                <a16:creationId xmlns:a16="http://schemas.microsoft.com/office/drawing/2014/main" id="{0859EC82-3FE6-6936-CAFB-AD3481B7B6DB}"/>
              </a:ext>
            </a:extLst>
          </p:cNvPr>
          <p:cNvSpPr txBox="1"/>
          <p:nvPr/>
        </p:nvSpPr>
        <p:spPr>
          <a:xfrm>
            <a:off x="609600" y="3746499"/>
            <a:ext cx="2895600" cy="736600"/>
          </a:xfrm>
          <a:prstGeom prst="rect">
            <a:avLst/>
          </a:prstGeom>
          <a:noFill/>
        </p:spPr>
        <p:txBody>
          <a:bodyPr vert="horz" wrap="square" lIns="0" tIns="0" rIns="0" bIns="0" rtlCol="0">
            <a:noAutofit/>
          </a:bodyPr>
          <a:lstStyle/>
          <a:p>
            <a:r>
              <a:rPr lang="en-IN" sz="2100" b="1">
                <a:solidFill>
                  <a:srgbClr val="087F83"/>
                </a:solidFill>
                <a:latin typeface="Arial" panose="020B0604020202020204" pitchFamily="34" charset="0"/>
              </a:rPr>
              <a:t>Current scope</a:t>
            </a:r>
          </a:p>
        </p:txBody>
      </p:sp>
      <p:sp>
        <p:nvSpPr>
          <p:cNvPr id="7" name="TextBox 6">
            <a:extLst>
              <a:ext uri="{FF2B5EF4-FFF2-40B4-BE49-F238E27FC236}">
                <a16:creationId xmlns:a16="http://schemas.microsoft.com/office/drawing/2014/main" id="{12B29047-848D-9427-CA21-D5C8CB10677A}"/>
              </a:ext>
            </a:extLst>
          </p:cNvPr>
          <p:cNvSpPr txBox="1"/>
          <p:nvPr/>
        </p:nvSpPr>
        <p:spPr>
          <a:xfrm>
            <a:off x="3873500" y="3746499"/>
            <a:ext cx="7581900" cy="914400"/>
          </a:xfrm>
          <a:prstGeom prst="rect">
            <a:avLst/>
          </a:prstGeom>
          <a:noFill/>
        </p:spPr>
        <p:txBody>
          <a:bodyPr vert="horz" wrap="square" lIns="0" tIns="0" rIns="0" bIns="0" rtlCol="0">
            <a:noAutofit/>
          </a:bodyPr>
          <a:lstStyle/>
          <a:p>
            <a:r>
              <a:rPr lang="en-US" sz="2100">
                <a:solidFill>
                  <a:srgbClr val="102B3F"/>
                </a:solidFill>
                <a:latin typeface="Arial" panose="020B0604020202020204" pitchFamily="34" charset="0"/>
              </a:rPr>
              <a:t>Local fictional payments, one admin account, local key files, and a regular SQLite audit table.</a:t>
            </a:r>
            <a:endParaRPr lang="en-IN" sz="2100">
              <a:solidFill>
                <a:srgbClr val="102B3F"/>
              </a:solidFill>
              <a:latin typeface="Arial" panose="020B0604020202020204" pitchFamily="34" charset="0"/>
            </a:endParaRPr>
          </a:p>
        </p:txBody>
      </p:sp>
      <p:sp>
        <p:nvSpPr>
          <p:cNvPr id="8" name="TextBox 7">
            <a:extLst>
              <a:ext uri="{FF2B5EF4-FFF2-40B4-BE49-F238E27FC236}">
                <a16:creationId xmlns:a16="http://schemas.microsoft.com/office/drawing/2014/main" id="{3BB7D1F0-4874-9EFF-D4C5-57384D4D79C7}"/>
              </a:ext>
            </a:extLst>
          </p:cNvPr>
          <p:cNvSpPr txBox="1"/>
          <p:nvPr/>
        </p:nvSpPr>
        <p:spPr>
          <a:xfrm>
            <a:off x="609600" y="5016499"/>
            <a:ext cx="2895600" cy="736600"/>
          </a:xfrm>
          <a:prstGeom prst="rect">
            <a:avLst/>
          </a:prstGeom>
          <a:noFill/>
        </p:spPr>
        <p:txBody>
          <a:bodyPr vert="horz" wrap="square" lIns="0" tIns="0" rIns="0" bIns="0" rtlCol="0">
            <a:noAutofit/>
          </a:bodyPr>
          <a:lstStyle/>
          <a:p>
            <a:r>
              <a:rPr lang="en-IN" sz="2100" b="1">
                <a:solidFill>
                  <a:srgbClr val="087F83"/>
                </a:solidFill>
                <a:latin typeface="Arial" panose="020B0604020202020204" pitchFamily="34" charset="0"/>
              </a:rPr>
              <a:t>Future development</a:t>
            </a:r>
          </a:p>
        </p:txBody>
      </p:sp>
      <p:sp>
        <p:nvSpPr>
          <p:cNvPr id="9" name="TextBox 8">
            <a:extLst>
              <a:ext uri="{FF2B5EF4-FFF2-40B4-BE49-F238E27FC236}">
                <a16:creationId xmlns:a16="http://schemas.microsoft.com/office/drawing/2014/main" id="{D60DCC30-6BD9-BE00-EADD-057B84C25C9F}"/>
              </a:ext>
            </a:extLst>
          </p:cNvPr>
          <p:cNvSpPr txBox="1"/>
          <p:nvPr/>
        </p:nvSpPr>
        <p:spPr>
          <a:xfrm>
            <a:off x="3873500" y="5016499"/>
            <a:ext cx="7581900" cy="914400"/>
          </a:xfrm>
          <a:prstGeom prst="rect">
            <a:avLst/>
          </a:prstGeom>
          <a:noFill/>
        </p:spPr>
        <p:txBody>
          <a:bodyPr vert="horz" wrap="square" lIns="0" tIns="0" rIns="0" bIns="0" rtlCol="0">
            <a:noAutofit/>
          </a:bodyPr>
          <a:lstStyle/>
          <a:p>
            <a:r>
              <a:rPr lang="en-US" sz="2100">
                <a:solidFill>
                  <a:srgbClr val="102B3F"/>
                </a:solidFill>
                <a:latin typeface="Arial" panose="020B0604020202020204" pitchFamily="34" charset="0"/>
              </a:rPr>
              <a:t>Role-based access and MFA, managed key rotation, stronger audit integrity, and production deployment testing.</a:t>
            </a:r>
            <a:endParaRPr lang="en-IN" sz="2100">
              <a:solidFill>
                <a:srgbClr val="102B3F"/>
              </a:solidFill>
              <a:latin typeface="Arial" panose="020B0604020202020204" pitchFamily="34" charset="0"/>
            </a:endParaRPr>
          </a:p>
        </p:txBody>
      </p:sp>
    </p:spTree>
    <p:extLst>
      <p:ext uri="{BB962C8B-B14F-4D97-AF65-F5344CB8AC3E}">
        <p14:creationId xmlns:p14="http://schemas.microsoft.com/office/powerpoint/2010/main" val="39810557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DFEE83A-D2FD-2C98-B82E-646F9DCFBC8C}"/>
              </a:ext>
            </a:extLst>
          </p:cNvPr>
          <p:cNvSpPr txBox="1"/>
          <p:nvPr/>
        </p:nvSpPr>
        <p:spPr>
          <a:xfrm>
            <a:off x="1512181" y="3429000"/>
            <a:ext cx="4944495" cy="553998"/>
          </a:xfrm>
          <a:prstGeom prst="rect">
            <a:avLst/>
          </a:prstGeom>
          <a:noFill/>
        </p:spPr>
        <p:txBody>
          <a:bodyPr wrap="none" rtlCol="0">
            <a:spAutoFit/>
          </a:bodyPr>
          <a:lstStyle/>
          <a:p>
            <a:r>
              <a:rPr lang="en-US" sz="3000" dirty="0"/>
              <a:t>Website Screenshots ahead </a:t>
            </a:r>
            <a:r>
              <a:rPr lang="en-US" sz="3000" dirty="0">
                <a:sym typeface="Wingdings" panose="05000000000000000000" pitchFamily="2" charset="2"/>
              </a:rPr>
              <a:t></a:t>
            </a:r>
            <a:endParaRPr lang="en-IN" sz="3000" dirty="0"/>
          </a:p>
        </p:txBody>
      </p:sp>
      <p:sp>
        <p:nvSpPr>
          <p:cNvPr id="6" name="TextBox 5">
            <a:extLst>
              <a:ext uri="{FF2B5EF4-FFF2-40B4-BE49-F238E27FC236}">
                <a16:creationId xmlns:a16="http://schemas.microsoft.com/office/drawing/2014/main" id="{21CE3B4B-6A7C-8B70-F6D6-6AB77D9A0544}"/>
              </a:ext>
            </a:extLst>
          </p:cNvPr>
          <p:cNvSpPr txBox="1"/>
          <p:nvPr/>
        </p:nvSpPr>
        <p:spPr>
          <a:xfrm>
            <a:off x="1475014" y="674132"/>
            <a:ext cx="9241972" cy="1015663"/>
          </a:xfrm>
          <a:prstGeom prst="rect">
            <a:avLst/>
          </a:prstGeom>
          <a:noFill/>
        </p:spPr>
        <p:txBody>
          <a:bodyPr wrap="square" rtlCol="0">
            <a:spAutoFit/>
          </a:bodyPr>
          <a:lstStyle/>
          <a:p>
            <a:r>
              <a:rPr lang="en-IN" sz="3000" dirty="0" err="1">
                <a:hlinkClick r:id="rId2"/>
              </a:rPr>
              <a:t>Github</a:t>
            </a:r>
            <a:r>
              <a:rPr lang="en-IN" sz="3000" dirty="0">
                <a:hlinkClick r:id="rId2"/>
              </a:rPr>
              <a:t> Repo Link:</a:t>
            </a:r>
            <a:br>
              <a:rPr lang="en-IN" sz="3000" dirty="0">
                <a:hlinkClick r:id="rId2"/>
              </a:rPr>
            </a:br>
            <a:r>
              <a:rPr lang="en-IN" sz="3000" dirty="0">
                <a:hlinkClick r:id="rId2"/>
              </a:rPr>
              <a:t>https://github.com/OjasZende/securepay_simulator_LnT</a:t>
            </a:r>
            <a:endParaRPr lang="en-IN" sz="3000" dirty="0"/>
          </a:p>
        </p:txBody>
      </p:sp>
    </p:spTree>
    <p:extLst>
      <p:ext uri="{BB962C8B-B14F-4D97-AF65-F5344CB8AC3E}">
        <p14:creationId xmlns:p14="http://schemas.microsoft.com/office/powerpoint/2010/main" val="2812274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5D22CEE-B058-46A5-A4F4-1B75C30986E0}"/>
              </a:ext>
            </a:extLst>
          </p:cNvPr>
          <p:cNvPicPr>
            <a:picLocks noChangeAspect="1"/>
          </p:cNvPicPr>
          <p:nvPr/>
        </p:nvPicPr>
        <p:blipFill>
          <a:blip r:embed="rId2"/>
          <a:stretch>
            <a:fillRect/>
          </a:stretch>
        </p:blipFill>
        <p:spPr>
          <a:xfrm>
            <a:off x="6037" y="6174"/>
            <a:ext cx="12179926" cy="6845652"/>
          </a:xfrm>
          <a:prstGeom prst="rect">
            <a:avLst/>
          </a:prstGeom>
        </p:spPr>
      </p:pic>
    </p:spTree>
    <p:extLst>
      <p:ext uri="{BB962C8B-B14F-4D97-AF65-F5344CB8AC3E}">
        <p14:creationId xmlns:p14="http://schemas.microsoft.com/office/powerpoint/2010/main" val="13708560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C6C7F91-9E15-3CF2-D62E-C4742CC5F061}"/>
              </a:ext>
            </a:extLst>
          </p:cNvPr>
          <p:cNvPicPr>
            <a:picLocks noChangeAspect="1"/>
          </p:cNvPicPr>
          <p:nvPr/>
        </p:nvPicPr>
        <p:blipFill>
          <a:blip r:embed="rId2"/>
          <a:stretch>
            <a:fillRect/>
          </a:stretch>
        </p:blipFill>
        <p:spPr>
          <a:xfrm>
            <a:off x="6037" y="6174"/>
            <a:ext cx="12179926" cy="6845652"/>
          </a:xfrm>
          <a:prstGeom prst="rect">
            <a:avLst/>
          </a:prstGeom>
        </p:spPr>
      </p:pic>
    </p:spTree>
    <p:extLst>
      <p:ext uri="{BB962C8B-B14F-4D97-AF65-F5344CB8AC3E}">
        <p14:creationId xmlns:p14="http://schemas.microsoft.com/office/powerpoint/2010/main" val="24016660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98082AC-1FE7-1292-8BD1-026838B75E5D}"/>
              </a:ext>
            </a:extLst>
          </p:cNvPr>
          <p:cNvPicPr>
            <a:picLocks noChangeAspect="1"/>
          </p:cNvPicPr>
          <p:nvPr/>
        </p:nvPicPr>
        <p:blipFill>
          <a:blip r:embed="rId2"/>
          <a:stretch>
            <a:fillRect/>
          </a:stretch>
        </p:blipFill>
        <p:spPr>
          <a:xfrm>
            <a:off x="25088" y="6174"/>
            <a:ext cx="12141824" cy="6845652"/>
          </a:xfrm>
          <a:prstGeom prst="rect">
            <a:avLst/>
          </a:prstGeom>
        </p:spPr>
      </p:pic>
    </p:spTree>
    <p:extLst>
      <p:ext uri="{BB962C8B-B14F-4D97-AF65-F5344CB8AC3E}">
        <p14:creationId xmlns:p14="http://schemas.microsoft.com/office/powerpoint/2010/main" val="18252217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E3D2430-D086-01A6-3D33-2ADB1B00860E}"/>
              </a:ext>
            </a:extLst>
          </p:cNvPr>
          <p:cNvPicPr>
            <a:picLocks noChangeAspect="1"/>
          </p:cNvPicPr>
          <p:nvPr/>
        </p:nvPicPr>
        <p:blipFill>
          <a:blip r:embed="rId2"/>
          <a:stretch>
            <a:fillRect/>
          </a:stretch>
        </p:blipFill>
        <p:spPr>
          <a:xfrm>
            <a:off x="6037" y="6174"/>
            <a:ext cx="12179926" cy="6845652"/>
          </a:xfrm>
          <a:prstGeom prst="rect">
            <a:avLst/>
          </a:prstGeom>
        </p:spPr>
      </p:pic>
    </p:spTree>
    <p:extLst>
      <p:ext uri="{BB962C8B-B14F-4D97-AF65-F5344CB8AC3E}">
        <p14:creationId xmlns:p14="http://schemas.microsoft.com/office/powerpoint/2010/main" val="30033132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E7E7142-706E-3AB2-269E-FF0E66AA94D9}"/>
              </a:ext>
            </a:extLst>
          </p:cNvPr>
          <p:cNvPicPr>
            <a:picLocks noChangeAspect="1"/>
          </p:cNvPicPr>
          <p:nvPr/>
        </p:nvPicPr>
        <p:blipFill>
          <a:blip r:embed="rId2"/>
          <a:stretch>
            <a:fillRect/>
          </a:stretch>
        </p:blipFill>
        <p:spPr>
          <a:xfrm>
            <a:off x="6037" y="6174"/>
            <a:ext cx="12179926" cy="6845652"/>
          </a:xfrm>
          <a:prstGeom prst="rect">
            <a:avLst/>
          </a:prstGeom>
        </p:spPr>
      </p:pic>
    </p:spTree>
    <p:extLst>
      <p:ext uri="{BB962C8B-B14F-4D97-AF65-F5344CB8AC3E}">
        <p14:creationId xmlns:p14="http://schemas.microsoft.com/office/powerpoint/2010/main" val="11104452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BEB3E97-A629-DA93-4425-4CE640027014}"/>
              </a:ext>
            </a:extLst>
          </p:cNvPr>
          <p:cNvPicPr>
            <a:picLocks noChangeAspect="1"/>
          </p:cNvPicPr>
          <p:nvPr/>
        </p:nvPicPr>
        <p:blipFill>
          <a:blip r:embed="rId2"/>
          <a:stretch>
            <a:fillRect/>
          </a:stretch>
        </p:blipFill>
        <p:spPr>
          <a:xfrm>
            <a:off x="6037" y="6174"/>
            <a:ext cx="12179926" cy="6845652"/>
          </a:xfrm>
          <a:prstGeom prst="rect">
            <a:avLst/>
          </a:prstGeom>
        </p:spPr>
      </p:pic>
    </p:spTree>
    <p:extLst>
      <p:ext uri="{BB962C8B-B14F-4D97-AF65-F5344CB8AC3E}">
        <p14:creationId xmlns:p14="http://schemas.microsoft.com/office/powerpoint/2010/main" val="6587932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0C6AF1E-B813-7BB8-6ED5-58F526EA6DC5}"/>
              </a:ext>
            </a:extLst>
          </p:cNvPr>
          <p:cNvPicPr>
            <a:picLocks noChangeAspect="1"/>
          </p:cNvPicPr>
          <p:nvPr/>
        </p:nvPicPr>
        <p:blipFill>
          <a:blip r:embed="rId2"/>
          <a:stretch>
            <a:fillRect/>
          </a:stretch>
        </p:blipFill>
        <p:spPr>
          <a:xfrm>
            <a:off x="6037" y="6174"/>
            <a:ext cx="12179926" cy="6845652"/>
          </a:xfrm>
          <a:prstGeom prst="rect">
            <a:avLst/>
          </a:prstGeom>
        </p:spPr>
      </p:pic>
    </p:spTree>
    <p:extLst>
      <p:ext uri="{BB962C8B-B14F-4D97-AF65-F5344CB8AC3E}">
        <p14:creationId xmlns:p14="http://schemas.microsoft.com/office/powerpoint/2010/main" val="35505854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7AC065B-3D1E-AD1E-2E82-E7C046FF3715}"/>
              </a:ext>
            </a:extLst>
          </p:cNvPr>
          <p:cNvPicPr>
            <a:picLocks noChangeAspect="1"/>
          </p:cNvPicPr>
          <p:nvPr/>
        </p:nvPicPr>
        <p:blipFill>
          <a:blip r:embed="rId2"/>
          <a:stretch>
            <a:fillRect/>
          </a:stretch>
        </p:blipFill>
        <p:spPr>
          <a:xfrm>
            <a:off x="6037" y="6174"/>
            <a:ext cx="12179926" cy="6845652"/>
          </a:xfrm>
          <a:prstGeom prst="rect">
            <a:avLst/>
          </a:prstGeom>
        </p:spPr>
      </p:pic>
    </p:spTree>
    <p:extLst>
      <p:ext uri="{BB962C8B-B14F-4D97-AF65-F5344CB8AC3E}">
        <p14:creationId xmlns:p14="http://schemas.microsoft.com/office/powerpoint/2010/main" val="15153965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BD30288-8B83-7C0C-8955-F097C28A1C2C}"/>
              </a:ext>
            </a:extLst>
          </p:cNvPr>
          <p:cNvPicPr>
            <a:picLocks noChangeAspect="1"/>
          </p:cNvPicPr>
          <p:nvPr/>
        </p:nvPicPr>
        <p:blipFill>
          <a:blip r:embed="rId2"/>
          <a:stretch>
            <a:fillRect/>
          </a:stretch>
        </p:blipFill>
        <p:spPr>
          <a:xfrm>
            <a:off x="6037" y="6174"/>
            <a:ext cx="12179926" cy="6845652"/>
          </a:xfrm>
          <a:prstGeom prst="rect">
            <a:avLst/>
          </a:prstGeom>
        </p:spPr>
      </p:pic>
    </p:spTree>
    <p:extLst>
      <p:ext uri="{BB962C8B-B14F-4D97-AF65-F5344CB8AC3E}">
        <p14:creationId xmlns:p14="http://schemas.microsoft.com/office/powerpoint/2010/main" val="23424684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A0FDF9B-1A2D-9F5E-F76E-0243896612DE}"/>
              </a:ext>
            </a:extLst>
          </p:cNvPr>
          <p:cNvPicPr>
            <a:picLocks noChangeAspect="1"/>
          </p:cNvPicPr>
          <p:nvPr/>
        </p:nvPicPr>
        <p:blipFill>
          <a:blip r:embed="rId2"/>
          <a:stretch>
            <a:fillRect/>
          </a:stretch>
        </p:blipFill>
        <p:spPr>
          <a:xfrm>
            <a:off x="6037" y="6174"/>
            <a:ext cx="12179926" cy="6845652"/>
          </a:xfrm>
          <a:prstGeom prst="rect">
            <a:avLst/>
          </a:prstGeom>
        </p:spPr>
      </p:pic>
    </p:spTree>
    <p:extLst>
      <p:ext uri="{BB962C8B-B14F-4D97-AF65-F5344CB8AC3E}">
        <p14:creationId xmlns:p14="http://schemas.microsoft.com/office/powerpoint/2010/main" val="28782526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A53A5B6-E11D-62DF-3176-63B682FAC75E}"/>
              </a:ext>
            </a:extLst>
          </p:cNvPr>
          <p:cNvSpPr txBox="1"/>
          <p:nvPr/>
        </p:nvSpPr>
        <p:spPr>
          <a:xfrm>
            <a:off x="4865914" y="3075057"/>
            <a:ext cx="2460171" cy="707886"/>
          </a:xfrm>
          <a:prstGeom prst="rect">
            <a:avLst/>
          </a:prstGeom>
          <a:noFill/>
        </p:spPr>
        <p:txBody>
          <a:bodyPr wrap="square" rtlCol="0">
            <a:spAutoFit/>
          </a:bodyPr>
          <a:lstStyle/>
          <a:p>
            <a:r>
              <a:rPr lang="en-US" sz="4000" dirty="0"/>
              <a:t>Thank You</a:t>
            </a:r>
          </a:p>
        </p:txBody>
      </p:sp>
    </p:spTree>
    <p:extLst>
      <p:ext uri="{BB962C8B-B14F-4D97-AF65-F5344CB8AC3E}">
        <p14:creationId xmlns:p14="http://schemas.microsoft.com/office/powerpoint/2010/main" val="33232571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109</TotalTime>
  <Words>2388</Words>
  <Application>Microsoft Office PowerPoint</Application>
  <PresentationFormat>Widescreen</PresentationFormat>
  <Paragraphs>198</Paragraphs>
  <Slides>26</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OJAS ZENDE</dc:creator>
  <cp:lastModifiedBy>OJAS ZENDE</cp:lastModifiedBy>
  <cp:revision>3</cp:revision>
  <cp:lastPrinted>2026-10-30T16:57:59Z</cp:lastPrinted>
  <dcterms:created xsi:type="dcterms:W3CDTF">2026-10-30T15:49:32Z</dcterms:created>
  <dcterms:modified xsi:type="dcterms:W3CDTF">2026-10-30T17:46:32Z</dcterms:modified>
</cp:coreProperties>
</file>